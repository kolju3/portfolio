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5" autoAdjust="0"/>
    <p:restoredTop sz="95278" autoAdjust="0"/>
  </p:normalViewPr>
  <p:slideViewPr>
    <p:cSldViewPr snapToGrid="0" snapToObjects="1">
      <p:cViewPr varScale="1">
        <p:scale>
          <a:sx n="105" d="100"/>
          <a:sy n="105" d="100"/>
        </p:scale>
        <p:origin x="331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F4D21-574E-45B3-AC2D-B8A31FFE933F}" type="datetimeFigureOut">
              <a:rPr lang="et-EE" smtClean="0"/>
              <a:t>28.08.2026</a:t>
            </a:fld>
            <a:endParaRPr lang="et-E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t-E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1ADD5-40E6-42D1-A1A2-0E4980B8279E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757915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Esitlejad: Natalia, </a:t>
            </a:r>
            <a:r>
              <a:rPr lang="en-US" dirty="0" err="1"/>
              <a:t>Aeg</a:t>
            </a:r>
            <a:r>
              <a:rPr lang="en-US" dirty="0"/>
              <a:t>: 0:00–1:00,Põhisõnum: kursus ei olnud ainult tööriistade loetelu, vaid analüüsi töövoo </a:t>
            </a:r>
            <a:r>
              <a:rPr lang="en-US" dirty="0" err="1"/>
              <a:t>kokkupanek</a:t>
            </a:r>
            <a:r>
              <a:rPr lang="en-US" dirty="0"/>
              <a:t>.</a:t>
            </a:r>
            <a:r>
              <a:rPr lang="en-US" baseline="0" dirty="0"/>
              <a:t> </a:t>
            </a:r>
            <a:r>
              <a:rPr lang="en-US" dirty="0"/>
              <a:t>„Miks? Mida tegime? Ja mis siis?” loogikaga.,Üleminek: järgmised slaidid näitavad, mida kontrollitud andmed tegelikult näitasid.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Natalia, </a:t>
            </a:r>
            <a:r>
              <a:rPr lang="en-US" dirty="0" err="1"/>
              <a:t>Aeg</a:t>
            </a:r>
            <a:r>
              <a:rPr lang="en-US" dirty="0"/>
              <a:t>: umbes 30 sekundit,Põhisõnum: andmeid ei saanud alguses usaldada. 5116 duplikaati tähendas, et enne puhastust oli käive umbes 1,46 mln euro võrra üle hinnatud.,Kalju mõtte sidumine: sellise vea põhjal võib ettevõte võtta kohustusi, mida tegelik müük ei toeta.,Caveat: kui visuaalil olev lause „ilma ainsatki pärisklienti kaotamata” jääb sisse, vajab see eraldi tõendust või pehmendamist.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</a:t>
            </a:r>
            <a:r>
              <a:rPr lang="en-US" dirty="0" err="1"/>
              <a:t>Kalju,Aeg</a:t>
            </a:r>
            <a:r>
              <a:rPr lang="en-US" dirty="0"/>
              <a:t>: umbes 30 sekundit,Põhisõnum: 2024 </a:t>
            </a:r>
            <a:r>
              <a:rPr lang="en-US" dirty="0" err="1"/>
              <a:t>aasta</a:t>
            </a:r>
            <a:r>
              <a:rPr lang="en-US" dirty="0"/>
              <a:t> </a:t>
            </a:r>
            <a:r>
              <a:rPr lang="en-US" dirty="0" err="1"/>
              <a:t>käive</a:t>
            </a:r>
            <a:r>
              <a:rPr lang="en-US" dirty="0"/>
              <a:t> ja turunduskanalid on koondunud; juhtimise fookus peab minema suurima mõjuga piirkondadele/</a:t>
            </a:r>
            <a:r>
              <a:rPr lang="en-US" dirty="0" err="1"/>
              <a:t>kanalitele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Helen,Aeg: umbes 30 sekundit,Põhisõnum: varude probleem ei ole ainult „palju” või „vähe”, vaid jaotumine võib olla vale.,Kõnetekst: 221 positsiooni vajavad juurdetellimise kontrolli, samal ajal kui 730 positsiooni näitasid ebatavaliselt kõrget laoseisu võrreldes reorder pointiga. 730 ei tähenda tõestatud ülevaru — see on kontrollsignaal.,Üleminek: varude kõrval ei jaotu ka kliendiväärtus võrdselt.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</a:t>
            </a:r>
            <a:r>
              <a:rPr lang="en-US" dirty="0" err="1"/>
              <a:t>Helen,Aeg</a:t>
            </a:r>
            <a:r>
              <a:rPr lang="en-US" dirty="0"/>
              <a:t>: umbes 30 sekundit,Põhisõnum: väike VIP-grupp kannab märkimisväärset osa analüüsitud käibest.,Kõnetekst: Top 10 VIP Champions kliendid annavad 8,64% RFM-analüüsi kaasatud käibest. See tähendab, et lojaalsuse hoidmine võib olla märksa suurema mõjuga kui üldine kampaania.,Caveat: ära nimeta seda kogu ettevõtte käibeks.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Kalju,Aeg: umbes 1 minut,Põhisõnum: Python/Streamlit dashboard näitab tehnilist visualiseerimisvõimekust ja analüütilist reaktsiooni: enne ärilist tõlgendamist tuleb kontrollida andmestiku täielikkust.,Kõnetekst: Kalju saab rääkida oma õppimise osa: Python dashboard, GitHub, virtual environments, AI kasutus ja struktureeritud kood. Põhisõnum jäägu kolmele sammule: märkasin, ei eeldanud, kontrolliksin.,Kontrollikoht: dashboardi kogumüügitulu 2 898 514 € erineb puhastatud kontrollsummast umbes 2,909 mln €. Vajadusel peab Kalju teadma, kas see tuleneb filtritest, data scope'ist või teisest andmestikust.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Helen,Aeg: umbes 1 minut,Põhisõnum: Tartu 2024 käive kasvas, kuid kasv tuli tellimuste arvu suurenemisest, mitte keskmise tellimuse kasvust.,Kõnetekst: Dashboard näitab 260 044 eurot müügitulu, +13,4% käivet ja +16,5% tellimusi, samal ajal AOV langes 2,6%. See tähendab, et kasvu kvaliteeti tuleb hinnata koos mahu ja keskmise väärtusega.,Caveat: põhjust ei väida; näitame muutust ja mustrit.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Natalia,Aeg: umbes 1 minut,Põhisõnum: soovitused ei lisa uusi analüüse, vaid teisendavad eelnevad tõendid tegevuseks.,Soovitus 1: andmekvaliteet ja andmestiku täielikkus enne otsustamist.,Soovitus 2: väärtus, mitte ainult maht.,Soovitus 3: kõrge väärtusega klientide hoidmine.,Üleminek: AI aitas töövoogu, kuid vastutus jäi inimesele.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t-E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Natalia,Aeg: umbes 1 minut,Põhisõnum: AI oli töökiirendi, kuid inimene kontrollis andmeid, arvutusi ja järeldusi.,Kalju õppimise tekstist: Python dashboard, GitHub, virtual environments, AI programmeerimise töövoos, struktureeritud ja kommenteeritud kood meeskonnatööks ning arusaam, et loogika mõistmine on olulisem kui süntaksi peast teadmine.,Lõpp: tõendatav analüüs aitab teha parema järgmise otsuse.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Nata376/daca-portfolio/tree/main/week-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Nata376/daca-portfolio/tree/main/week-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lenTanner3/daca-portfolio/tree/main/01-sql/week-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olju3/Portfolio/tree/main/DACA/WORKSHOP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elenTanner3/daca-portfolio/tree/main/02-power-bi/week-6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918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B8D"/>
                </a:solidFill>
                <a:latin typeface="Calibri"/>
              </a:rPr>
              <a:t>DACA WEEK 10 · LÕPPESITLUS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A2E"/>
                </a:solidFill>
                <a:latin typeface="Calibri"/>
              </a:rPr>
              <a:t>Operations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B8D"/>
                </a:solidFill>
                <a:latin typeface="Calibri"/>
              </a:rPr>
              <a:t>Andmetest otsuseni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76272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libri"/>
              </a:rPr>
              <a:t>10 nädala teekond andmete korrastamisest ja analüüsist otsust toetavate visualiseeringute ning soovitusteni.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05840"/>
            <a:ext cx="3200400" cy="23317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E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58200" y="129844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B8D"/>
                </a:solidFill>
                <a:latin typeface="Calibri"/>
              </a:rPr>
              <a:t>MEESKOND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627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Kalju Tamme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Helen Tanner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395728"/>
            <a:ext cx="2788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A2E"/>
                </a:solidFill>
                <a:latin typeface="Calibri"/>
              </a:rPr>
              <a:t>Natalia </a:t>
            </a:r>
            <a:r>
              <a:rPr sz="1600" b="1" i="0" dirty="0" err="1">
                <a:solidFill>
                  <a:srgbClr val="1A1A2E"/>
                </a:solidFill>
                <a:latin typeface="Calibri"/>
              </a:rPr>
              <a:t>Krassilnikova</a:t>
            </a:r>
            <a:endParaRPr sz="16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9B8D"/>
                </a:solidFill>
                <a:latin typeface="Calibri"/>
              </a:rPr>
              <a:t>TÖÖVOOG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SEADISTA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7121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11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KONTROLLI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1149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ANALÜÜSI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5177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NÄITA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41788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041648"/>
            <a:ext cx="16459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92056" y="4215384"/>
            <a:ext cx="2377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8D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41879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2E"/>
                </a:solidFill>
                <a:latin typeface="Calibri"/>
              </a:rPr>
              <a:t>OTSUSTA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230368"/>
            <a:ext cx="9875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SQL · Python/pandas · Power BI · Supabase/PostgreSQL · Git/GitHub ·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795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9B8D"/>
                </a:solidFill>
                <a:latin typeface="Calibri"/>
              </a:rPr>
              <a:t>Läbiv küsimus: „Ja mis siis?”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OPERATIONS INTELLIGENCE · DACA WEEK 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162270-04EE-98EA-CFAF-696C7D35D0EC}"/>
              </a:ext>
            </a:extLst>
          </p:cNvPr>
          <p:cNvSpPr txBox="1"/>
          <p:nvPr/>
        </p:nvSpPr>
        <p:spPr>
          <a:xfrm>
            <a:off x="8435340" y="2752344"/>
            <a:ext cx="2788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j-lt"/>
              </a:rPr>
              <a:t>Olga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Leisbblous</a:t>
            </a:r>
            <a:endParaRPr sz="16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SISSEJUHATUS · NATALIA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Operations Intelligence — andmetest otsuseni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0624" y="9784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</a:rPr>
              <a:t>Tööriistad muutusid väärtuslikuks siis, kui neist tekkis kontrollitav analüüsiahel.</a:t>
            </a:r>
            <a:endParaRPr lang="en-US" sz="1150" dirty="0"/>
          </a:p>
        </p:txBody>
      </p:sp>
      <p:pic>
        <p:nvPicPr>
          <p:cNvPr id="6" name="Image 0" descr="/mnt/data/Natalia - alg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220" y="1417320"/>
            <a:ext cx="990365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B8D"/>
                </a:solidFill>
              </a:rPr>
              <a:t>Läbiv küsimus: „Ja mis siis?”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 · Natalia — WEEK 2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· 0:30</a:t>
            </a:r>
            <a:endParaRPr lang="en-US" sz="720" dirty="0"/>
          </a:p>
        </p:txBody>
      </p:sp>
      <p:pic>
        <p:nvPicPr>
          <p:cNvPr id="4" name="Image 0" descr="/mnt/data/Natalia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78" y="658368"/>
            <a:ext cx="9939020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0990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</a:rPr>
              <a:t>Ja mis siis? Vale andmestik võib viia väga vale juhtimisotsuseni.</a:t>
            </a:r>
            <a:endParaRPr lang="en-US" sz="1150" dirty="0"/>
          </a:p>
        </p:txBody>
      </p:sp>
      <p:sp>
        <p:nvSpPr>
          <p:cNvPr id="6" name="Text 3">
            <a:hlinkClick r:id="rId4"/>
          </p:cNvPr>
          <p:cNvSpPr/>
          <p:nvPr/>
        </p:nvSpPr>
        <p:spPr>
          <a:xfrm>
            <a:off x="9802368" y="610819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Natalia W2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II · Kalju — WEEK 4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· 0:30</a:t>
            </a:r>
            <a:endParaRPr lang="en-US" sz="720" dirty="0"/>
          </a:p>
        </p:txBody>
      </p:sp>
      <p:pic>
        <p:nvPicPr>
          <p:cNvPr id="4" name="Image 0" descr="/mnt/data/Natalia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705" y="713232"/>
            <a:ext cx="9680110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1081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A1A2E"/>
                </a:solidFill>
              </a:rPr>
              <a:t>Ja mis siis? Käive ja kliendihange ei jaotu ühtlaselt — fookus peab minema sinna, kus mõju on suurim.</a:t>
            </a:r>
            <a:endParaRPr lang="en-US" sz="1130" dirty="0"/>
          </a:p>
        </p:txBody>
      </p:sp>
      <p:sp>
        <p:nvSpPr>
          <p:cNvPr id="6" name="Text 3">
            <a:hlinkClick r:id="rId4"/>
          </p:cNvPr>
          <p:cNvSpPr/>
          <p:nvPr/>
        </p:nvSpPr>
        <p:spPr>
          <a:xfrm>
            <a:off x="10195560" y="6108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Natalia W4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III · HELEN — WEEK 3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 · 0:30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15694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Varu võib olla vales kohas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126187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</a:rPr>
              <a:t>Ühes kohas saadavusrisk, teises ebatavaliselt kõrge laoseis.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7512" y="1659636"/>
            <a:ext cx="4617720" cy="1814321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Shape 5"/>
          <p:cNvSpPr/>
          <p:nvPr/>
        </p:nvSpPr>
        <p:spPr>
          <a:xfrm>
            <a:off x="6793992" y="1659636"/>
            <a:ext cx="4617720" cy="1790699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941832" y="197053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55E00"/>
                </a:solidFill>
              </a:rPr>
              <a:t>221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033272" y="288493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juurdetellimise / reorder-risk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kontrollpositsiooni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68312" y="197053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9B8D"/>
                </a:solidFill>
              </a:rPr>
              <a:t>730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159752" y="2884932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võimalikku kõrge laoseisu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1A2E"/>
                </a:solidFill>
              </a:rPr>
              <a:t>kontrollpositsiooni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22392" y="2363724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280"/>
                </a:solidFill>
              </a:rPr>
              <a:t>↔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67512" y="4690872"/>
            <a:ext cx="10568178" cy="658368"/>
          </a:xfrm>
          <a:prstGeom prst="roundRect">
            <a:avLst>
              <a:gd name="adj" fmla="val 11111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760476" y="4872228"/>
            <a:ext cx="10109454" cy="34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t-EE" sz="1300" b="1" noProof="0" dirty="0">
                <a:solidFill>
                  <a:srgbClr val="1A1A2E"/>
                </a:solidFill>
              </a:rPr>
              <a:t>Oluline piirang: 730 = kontrollsignaal, mitte tõestatud ülevaru. Reorder point on juurde</a:t>
            </a:r>
            <a:r>
              <a:rPr lang="en-US" sz="1300" b="1" noProof="0" dirty="0">
                <a:solidFill>
                  <a:srgbClr val="1A1A2E"/>
                </a:solidFill>
              </a:rPr>
              <a:t> </a:t>
            </a:r>
            <a:r>
              <a:rPr lang="et-EE" sz="1300" b="1" noProof="0" dirty="0">
                <a:solidFill>
                  <a:srgbClr val="1A1A2E"/>
                </a:solidFill>
              </a:rPr>
              <a:t>tellimise käivituspunkt, mitte optimaalne maksimaalne laotase</a:t>
            </a:r>
            <a:r>
              <a:rPr lang="et-EE" sz="1060" b="1" noProof="0" dirty="0">
                <a:solidFill>
                  <a:srgbClr val="1A1A2E"/>
                </a:solidFill>
              </a:rPr>
              <a:t>.</a:t>
            </a:r>
            <a:endParaRPr lang="et-EE" sz="1060" noProof="0" dirty="0"/>
          </a:p>
        </p:txBody>
      </p:sp>
      <p:sp>
        <p:nvSpPr>
          <p:cNvPr id="15" name="Text 13">
            <a:hlinkClick r:id="rId3"/>
          </p:cNvPr>
          <p:cNvSpPr/>
          <p:nvPr/>
        </p:nvSpPr>
        <p:spPr>
          <a:xfrm>
            <a:off x="9948672" y="6236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Helen W3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4</a:t>
            </a:r>
            <a:endParaRPr lang="en-US" sz="700" dirty="0"/>
          </a:p>
        </p:txBody>
      </p:sp>
      <p:sp>
        <p:nvSpPr>
          <p:cNvPr id="41" name="Rounded Rectangle 10">
            <a:extLst>
              <a:ext uri="{FF2B5EF4-FFF2-40B4-BE49-F238E27FC236}">
                <a16:creationId xmlns:a16="http://schemas.microsoft.com/office/drawing/2014/main" id="{529FCCFF-90FF-C2FA-20D3-9143AEE76F1C}"/>
              </a:ext>
            </a:extLst>
          </p:cNvPr>
          <p:cNvSpPr/>
          <p:nvPr/>
        </p:nvSpPr>
        <p:spPr>
          <a:xfrm>
            <a:off x="6805421" y="3592447"/>
            <a:ext cx="1622117" cy="964121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A29A5A-E625-CA82-8CC6-B18E6A0E371C}"/>
              </a:ext>
            </a:extLst>
          </p:cNvPr>
          <p:cNvSpPr txBox="1"/>
          <p:nvPr/>
        </p:nvSpPr>
        <p:spPr>
          <a:xfrm>
            <a:off x="6744843" y="3748085"/>
            <a:ext cx="1678052" cy="411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600" b="1" i="0">
                <a:solidFill>
                  <a:srgbClr val="D55E00"/>
                </a:solidFill>
                <a:latin typeface="Calibri"/>
              </a:rPr>
              <a:t>214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7FE943-B9DB-02C4-AE92-5C6A45AAF3AC}"/>
              </a:ext>
            </a:extLst>
          </p:cNvPr>
          <p:cNvSpPr txBox="1"/>
          <p:nvPr/>
        </p:nvSpPr>
        <p:spPr>
          <a:xfrm>
            <a:off x="6726555" y="4109273"/>
            <a:ext cx="167805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 dirty="0">
                <a:solidFill>
                  <a:srgbClr val="1A1A2E"/>
                </a:solidFill>
                <a:latin typeface="Calibri"/>
              </a:rPr>
              <a:t>≥10×</a:t>
            </a:r>
          </a:p>
        </p:txBody>
      </p:sp>
      <p:sp>
        <p:nvSpPr>
          <p:cNvPr id="47" name="Rounded Rectangle 13">
            <a:extLst>
              <a:ext uri="{FF2B5EF4-FFF2-40B4-BE49-F238E27FC236}">
                <a16:creationId xmlns:a16="http://schemas.microsoft.com/office/drawing/2014/main" id="{9F0436F4-51D6-0745-9509-A317C97CF3C1}"/>
              </a:ext>
            </a:extLst>
          </p:cNvPr>
          <p:cNvSpPr/>
          <p:nvPr/>
        </p:nvSpPr>
        <p:spPr>
          <a:xfrm>
            <a:off x="8540495" y="3583493"/>
            <a:ext cx="1402261" cy="964121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91D87CE-3295-9A51-604C-D2B2B8AD549C}"/>
              </a:ext>
            </a:extLst>
          </p:cNvPr>
          <p:cNvSpPr txBox="1"/>
          <p:nvPr/>
        </p:nvSpPr>
        <p:spPr>
          <a:xfrm>
            <a:off x="8309229" y="3765993"/>
            <a:ext cx="1678052" cy="411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600" b="1" i="0" dirty="0">
                <a:solidFill>
                  <a:srgbClr val="D55E00"/>
                </a:solidFill>
                <a:latin typeface="Calibri"/>
              </a:rPr>
              <a:t>31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772892-E4AD-965A-A28B-B453254E90FD}"/>
              </a:ext>
            </a:extLst>
          </p:cNvPr>
          <p:cNvSpPr txBox="1"/>
          <p:nvPr/>
        </p:nvSpPr>
        <p:spPr>
          <a:xfrm>
            <a:off x="8330565" y="4112036"/>
            <a:ext cx="167805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 dirty="0">
                <a:solidFill>
                  <a:srgbClr val="1A1A2E"/>
                </a:solidFill>
                <a:latin typeface="Calibri"/>
              </a:rPr>
              <a:t>≥100×</a:t>
            </a:r>
          </a:p>
        </p:txBody>
      </p:sp>
      <p:sp>
        <p:nvSpPr>
          <p:cNvPr id="53" name="Rounded Rectangle 16">
            <a:extLst>
              <a:ext uri="{FF2B5EF4-FFF2-40B4-BE49-F238E27FC236}">
                <a16:creationId xmlns:a16="http://schemas.microsoft.com/office/drawing/2014/main" id="{207941ED-A014-EDC5-C8C5-97D9BEC89081}"/>
              </a:ext>
            </a:extLst>
          </p:cNvPr>
          <p:cNvSpPr/>
          <p:nvPr/>
        </p:nvSpPr>
        <p:spPr>
          <a:xfrm>
            <a:off x="10078592" y="3583493"/>
            <a:ext cx="1333119" cy="964121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B0A843-42DA-FBA8-FA6B-4DDC224791B4}"/>
              </a:ext>
            </a:extLst>
          </p:cNvPr>
          <p:cNvSpPr txBox="1"/>
          <p:nvPr/>
        </p:nvSpPr>
        <p:spPr>
          <a:xfrm>
            <a:off x="9922191" y="3765993"/>
            <a:ext cx="1645920" cy="4114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ctr"/>
            <a:r>
              <a:rPr sz="2600" b="1" i="0" dirty="0">
                <a:solidFill>
                  <a:srgbClr val="D55E00"/>
                </a:solidFill>
                <a:latin typeface="Calibri"/>
              </a:rPr>
              <a:t>628,6×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18CDF-FDD3-55A9-0BFA-41673233DB2D}"/>
              </a:ext>
            </a:extLst>
          </p:cNvPr>
          <p:cNvSpPr txBox="1"/>
          <p:nvPr/>
        </p:nvSpPr>
        <p:spPr>
          <a:xfrm>
            <a:off x="9942756" y="4109273"/>
            <a:ext cx="164592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et-EE" sz="900" b="0" i="0" noProof="0" dirty="0">
                <a:solidFill>
                  <a:srgbClr val="1A1A2E"/>
                </a:solidFill>
                <a:latin typeface="Calibri"/>
              </a:rPr>
              <a:t>maksimaalne
kõrvalekalle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EB58E4-D2AE-F691-DC75-F37090B2D04D}"/>
              </a:ext>
            </a:extLst>
          </p:cNvPr>
          <p:cNvSpPr txBox="1"/>
          <p:nvPr/>
        </p:nvSpPr>
        <p:spPr>
          <a:xfrm>
            <a:off x="9509760" y="2460306"/>
            <a:ext cx="1645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 dirty="0">
                <a:solidFill>
                  <a:srgbClr val="1A1A2E"/>
                </a:solidFill>
                <a:latin typeface="Calibri"/>
              </a:rPr>
              <a:t>≥3× reorder point</a:t>
            </a:r>
          </a:p>
        </p:txBody>
      </p:sp>
      <p:sp>
        <p:nvSpPr>
          <p:cNvPr id="65" name="Rounded Rectangle 22">
            <a:extLst>
              <a:ext uri="{FF2B5EF4-FFF2-40B4-BE49-F238E27FC236}">
                <a16:creationId xmlns:a16="http://schemas.microsoft.com/office/drawing/2014/main" id="{E9CA2C9C-EE39-D479-8F4C-7BD8157D4C40}"/>
              </a:ext>
            </a:extLst>
          </p:cNvPr>
          <p:cNvSpPr/>
          <p:nvPr/>
        </p:nvSpPr>
        <p:spPr>
          <a:xfrm>
            <a:off x="667512" y="5477256"/>
            <a:ext cx="10568178" cy="749808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33AB9C-ADBC-66C0-5F6C-6976B69BF61F}"/>
              </a:ext>
            </a:extLst>
          </p:cNvPr>
          <p:cNvSpPr txBox="1"/>
          <p:nvPr/>
        </p:nvSpPr>
        <p:spPr>
          <a:xfrm>
            <a:off x="857250" y="5706618"/>
            <a:ext cx="100126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t-EE" sz="1050" b="1" i="0" noProof="0" dirty="0">
                <a:solidFill>
                  <a:srgbClr val="4B5563"/>
                </a:solidFill>
                <a:latin typeface="Calibri"/>
              </a:rPr>
              <a:t>Järgmine analüüs vajaks: müügikiirus · hooajalisus · lead time · min/max varupoliitika · ostuhind / seotud kapital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IV · Helen — WEEK 7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KALJU · 0:30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Väike VIP-segment, suur mõju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Kõrge väärtusega klientide hoidmine võib mõjutada käivet ebaproportsionaalselt palju.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057400"/>
            <a:ext cx="10241280" cy="3063240"/>
          </a:xfrm>
          <a:prstGeom prst="roundRect">
            <a:avLst>
              <a:gd name="adj" fmla="val 2388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1325880" y="2423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</a:rPr>
              <a:t>TOP 10 VIP CHAMPIONS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7592" y="2697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6800" b="1" dirty="0">
                <a:solidFill>
                  <a:srgbClr val="009B8D"/>
                </a:solidFill>
              </a:rPr>
              <a:t>8,64%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1353312" y="3767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</a:rPr>
              <a:t>RFM-analüüsis arvestatud käibest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06440" y="2331720"/>
            <a:ext cx="0" cy="2468880"/>
          </a:xfrm>
          <a:prstGeom prst="line">
            <a:avLst/>
          </a:prstGeom>
          <a:noFill/>
          <a:ln w="15240">
            <a:solidFill>
              <a:srgbClr val="B7D8D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6172200" y="2542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B8D"/>
                </a:solidFill>
              </a:rPr>
              <a:t>Ja mis siis?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292608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Väga väikese kõrge väärtusega kliendigrupi hoidmine on juhtimisotsus, mitte ainult turundusdetail.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72200" y="413308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i="1" dirty="0">
                <a:solidFill>
                  <a:srgbClr val="4B5563"/>
                </a:solidFill>
              </a:rPr>
              <a:t>Täpsustus: denominator on RFM-analüüsi kaasatud klientide monetary value, mitte kogu ettevõtte käive.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VISUALISEERING II · KALJU — PYTHON/STREAMLIT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KALJU · 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11480" y="429768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Dashboard pani küsima: kas langus on äris või andmetes?</a:t>
            </a:r>
            <a:endParaRPr lang="en-US" sz="2200" dirty="0"/>
          </a:p>
        </p:txBody>
      </p:sp>
      <p:pic>
        <p:nvPicPr>
          <p:cNvPr id="5" name="Image 0" descr="/mnt/data/Kalju 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291" y="893102"/>
            <a:ext cx="7927178" cy="49544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6280" y="5879592"/>
            <a:ext cx="10808208" cy="493776"/>
          </a:xfrm>
          <a:prstGeom prst="roundRect">
            <a:avLst>
              <a:gd name="adj" fmla="val 14815"/>
            </a:avLst>
          </a:prstGeom>
          <a:solidFill>
            <a:srgbClr val="1A1A2E">
              <a:alpha val="95000"/>
            </a:srgbClr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4"/>
          <p:cNvSpPr/>
          <p:nvPr/>
        </p:nvSpPr>
        <p:spPr>
          <a:xfrm>
            <a:off x="941832" y="594360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</a:rPr>
              <a:t>MÄRKASIN → Pärast 2024. aastat kukub olemasolevate müügiandmete maht järsult.  KONTROLLIKSIN → kas 2025–2026 andmestik on täielik.</a:t>
            </a:r>
            <a:endParaRPr lang="en-US" sz="930" dirty="0"/>
          </a:p>
        </p:txBody>
      </p:sp>
      <p:sp>
        <p:nvSpPr>
          <p:cNvPr id="8" name="Text 5">
            <a:hlinkClick r:id="rId4"/>
          </p:cNvPr>
          <p:cNvSpPr/>
          <p:nvPr/>
        </p:nvSpPr>
        <p:spPr>
          <a:xfrm>
            <a:off x="9646920" y="6382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Kalju WORKSHOP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VISUALISEERING I · HELEN — WEEK 6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 · 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Tartu kasv tuli tellimuste arvust, mitte suuremast ostukorvist</a:t>
            </a:r>
            <a:endParaRPr lang="en-US" sz="2200" dirty="0"/>
          </a:p>
        </p:txBody>
      </p:sp>
      <p:pic>
        <p:nvPicPr>
          <p:cNvPr id="5" name="Image 0" descr="/mnt/data/w6_role_b_tartu_kaupluse_dashboard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553980"/>
            <a:ext cx="6766560" cy="378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5778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i="1" dirty="0">
                <a:solidFill>
                  <a:srgbClr val="6B7280"/>
                </a:solidFill>
              </a:rPr>
              <a:t>Päris Power BI dashboard · Tartu kauplus · Helen, Week 6</a:t>
            </a:r>
            <a:endParaRPr lang="en-US" sz="870" dirty="0"/>
          </a:p>
        </p:txBody>
      </p:sp>
      <p:sp>
        <p:nvSpPr>
          <p:cNvPr id="7" name="Text 4"/>
          <p:cNvSpPr/>
          <p:nvPr/>
        </p:nvSpPr>
        <p:spPr>
          <a:xfrm>
            <a:off x="7543800" y="141732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6B7280"/>
                </a:solidFill>
              </a:rPr>
              <a:t>2024 MÜÜGITULU, TARTU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54380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2E"/>
                </a:solidFill>
              </a:rPr>
              <a:t>260 044 €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7543800" y="2514600"/>
            <a:ext cx="3913632" cy="475488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7"/>
          <p:cNvSpPr/>
          <p:nvPr/>
        </p:nvSpPr>
        <p:spPr>
          <a:xfrm>
            <a:off x="7671816" y="26151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Müügitulu                 ↑ +13,4%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43800" y="3136392"/>
            <a:ext cx="3913632" cy="475488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9"/>
          <p:cNvSpPr/>
          <p:nvPr/>
        </p:nvSpPr>
        <p:spPr>
          <a:xfrm>
            <a:off x="7671816" y="32369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Tellimuste arv        ↑ +16,5%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43800" y="3758184"/>
            <a:ext cx="3913632" cy="475488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1"/>
          <p:cNvSpPr/>
          <p:nvPr/>
        </p:nvSpPr>
        <p:spPr>
          <a:xfrm>
            <a:off x="7671816" y="3858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Keskmine tellimus   ↓ −2,6%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62088" y="4407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777 → 905 tellimust · 295,13 € → 287,34 € AOV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7543800" y="4892040"/>
            <a:ext cx="3913632" cy="1005840"/>
          </a:xfrm>
          <a:prstGeom prst="roundRect">
            <a:avLst>
              <a:gd name="adj" fmla="val 7273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4"/>
          <p:cNvSpPr/>
          <p:nvPr/>
        </p:nvSpPr>
        <p:spPr>
          <a:xfrm>
            <a:off x="7754112" y="5166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09B8D"/>
                </a:solidFill>
              </a:rPr>
              <a:t>Ja mis siis?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8823960" y="51480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Kasvu kvaliteeti ei saa hinnata ainult kogukäibe järgi.</a:t>
            </a:r>
            <a:endParaRPr lang="en-US" sz="950" dirty="0"/>
          </a:p>
        </p:txBody>
      </p:sp>
      <p:sp>
        <p:nvSpPr>
          <p:cNvPr id="19" name="Text 16">
            <a:hlinkClick r:id="rId4"/>
          </p:cNvPr>
          <p:cNvSpPr/>
          <p:nvPr/>
        </p:nvSpPr>
        <p:spPr>
          <a:xfrm>
            <a:off x="9948672" y="62362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↗ Helen W6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JUHTIMISSOOVITUSED · NATALIA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· 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2E"/>
                </a:solidFill>
              </a:rPr>
              <a:t>Kolm otsust, mida andmed toetavad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B8D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16276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Kontrolli andmete kvaliteeti enne otsustamist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97510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Tõend: 5 116 duplikaati · ~1,46 mln € erinevus · 2025–2026 andmete täielikkuse küsimus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1600200" y="2267712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A1A2E"/>
                </a:solidFill>
              </a:rPr>
              <a:t>Otsusta alles pärast puhastust, kontrollsummasid ja andmestiku katvuse kontrolli.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91440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B8D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00200" y="31089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Juhi väärtust, mitte ainult mahtu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3456432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Tõend: Tartu +13,4% käive / +16,5% tellimused / −2,6% AOV · toote maht ≠ suurim käive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1600200" y="3749040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A1A2E"/>
                </a:solidFill>
              </a:rPr>
              <a:t>Vaata koos käivet, müügimahtu/tellimusi ja keskmist väärtust.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85800" y="4425696"/>
            <a:ext cx="108356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91440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9B8D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00200" y="45902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Hoia kõrge väärtusega kliendid lojaalsena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93776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B7280"/>
                </a:solidFill>
              </a:rPr>
              <a:t>Tõend: TOP 10 VIP Champions = 8,64% RFM-analüüsis arvestatud käibest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1600200" y="5230368"/>
            <a:ext cx="8961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A1A2E"/>
                </a:solidFill>
              </a:rPr>
              <a:t>Testi sihitud VIP/Loyal retention-lähenemist; mõõda kordusostu ja väärtuse säilimist.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5603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KASUTAMINE JA ÕPIKOGEMUS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9509760" y="25603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· 1:00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</a:rPr>
              <a:t>AI kiirendas tööd — kontroll jäi inimesele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886968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B8D"/>
                </a:solidFill>
              </a:rPr>
              <a:t>TÖÖRIISTAD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05256" y="2212848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Python dashboard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GitHub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Virtual environments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0832" y="15087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B8D"/>
                </a:solidFill>
              </a:rPr>
              <a:t>TÖÖVIIS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90288" y="2212848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Struktureeritud ja kommenteeritud kood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Meeskonnatööks loetav lahendus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</a:rPr>
              <a:t>Kontrollsummad ja piirangud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65008" y="150876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E6F4F2"/>
          </a:solidFill>
          <a:ln w="12700">
            <a:solidFill>
              <a:srgbClr val="E6F4F2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8266176" y="17830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9B8D"/>
                </a:solidFill>
              </a:rPr>
              <a:t>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84464" y="2212848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AI programmeerimise töövoos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Veaotsing ja alternatiivid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Inimene otsustab, mida tulemus tõendab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5074920"/>
            <a:ext cx="10104120" cy="749808"/>
          </a:xfrm>
          <a:prstGeom prst="roundRect">
            <a:avLst>
              <a:gd name="adj" fmla="val 975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1325880" y="5303520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Programmeerimisloogika mõistmine on olulisem kui süntaksi peast teadmine.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6016752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B8D"/>
                </a:solidFill>
              </a:rPr>
              <a:t>Töötav kood ei tähenda automaatselt õiget tulemust.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475720" y="6501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918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9B8D"/>
                </a:solidFill>
                <a:latin typeface="Calibri"/>
              </a:rPr>
              <a:t>LÕPP ·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2918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1A1A2E"/>
                </a:solidFill>
                <a:latin typeface="Calibri"/>
              </a:rPr>
              <a:t>7:00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A1A2E"/>
                </a:solidFill>
                <a:latin typeface="Calibri"/>
              </a:rPr>
              <a:t>Aitäh!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B8D"/>
                </a:solidFill>
                <a:latin typeface="Calibri"/>
              </a:rPr>
              <a:t>Küsimused?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26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Operations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10128"/>
            <a:ext cx="6217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6B7280"/>
                </a:solidFill>
                <a:latin typeface="Calibri"/>
              </a:rPr>
              <a:t>Kalju Tamme · Helen Tanner · Natalia </a:t>
            </a:r>
            <a:r>
              <a:rPr sz="1400" b="0" i="0" dirty="0" err="1">
                <a:solidFill>
                  <a:srgbClr val="6B7280"/>
                </a:solidFill>
                <a:latin typeface="Calibri"/>
              </a:rPr>
              <a:t>Krassilnikova</a:t>
            </a:r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lang="et-EE" sz="1400" dirty="0">
                <a:solidFill>
                  <a:srgbClr val="6B7280"/>
                </a:solidFill>
              </a:rPr>
              <a:t>·</a:t>
            </a:r>
            <a:r>
              <a:rPr lang="en-US" sz="1400" b="0" i="0" dirty="0">
                <a:solidFill>
                  <a:srgbClr val="6B7280"/>
                </a:solidFill>
                <a:latin typeface="Calibri"/>
              </a:rPr>
              <a:t> Olga </a:t>
            </a:r>
            <a:r>
              <a:rPr lang="en-US" sz="1400" b="0" i="0" dirty="0" err="1">
                <a:solidFill>
                  <a:srgbClr val="6B7280"/>
                </a:solidFill>
                <a:latin typeface="Calibri"/>
              </a:rPr>
              <a:t>Leisbblous</a:t>
            </a:r>
            <a:endParaRPr sz="140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4360" y="4892040"/>
            <a:ext cx="10607040" cy="27432"/>
          </a:xfrm>
          <a:prstGeom prst="rect">
            <a:avLst/>
          </a:prstGeom>
          <a:solidFill>
            <a:srgbClr val="009B8D"/>
          </a:solidFill>
          <a:ln>
            <a:solidFill>
              <a:srgbClr val="009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5212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Calibri"/>
              </a:rPr>
              <a:t>Tõendatav analüüs on väärtuslik siis, kui see aitab teha parema järgmise otsuse.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6B7280"/>
                </a:solidFill>
                <a:latin typeface="Calibri"/>
              </a:rPr>
              <a:t>OPERATIONS INTELLIGENCE · DACA WEEK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1347</Words>
  <Application>Microsoft Office PowerPoint</Application>
  <PresentationFormat>Widescreen</PresentationFormat>
  <Paragraphs>165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Operations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Intelligence — andmetest otsuseni</dc:title>
  <dc:subject>DACA Week 10 lõppesitlus</dc:subject>
  <dc:creator>OpenAI</dc:creator>
  <cp:lastModifiedBy>Helen Tanner</cp:lastModifiedBy>
  <cp:revision>4</cp:revision>
  <dcterms:created xsi:type="dcterms:W3CDTF">2026-08-28T08:10:36Z</dcterms:created>
  <dcterms:modified xsi:type="dcterms:W3CDTF">2026-08-28T13:26:12Z</dcterms:modified>
</cp:coreProperties>
</file>