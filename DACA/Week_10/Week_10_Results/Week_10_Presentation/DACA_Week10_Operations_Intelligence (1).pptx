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12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3475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Kalju avab, Natalia lõpetab sissejuhatuse
AJAVAHEMIK: 0:00–0:50
PÕHISÕNUM: Kümne nädala jooksul õpitud tööriistad said väärtuslikuks alles siis, kui neist tekkis kontrollitav ja tõendatav analüüsiahel — mitte enne.
KÕNETEKST (30–60s):
Kalju: "Tere, meie oleme Operations Intelligence meeskond — Kalju, Olga, Helen ja Natalia. Kümne nädala jooksul liikusime Supabase'ist ja SQL-ist Pythoni ja Power BI-ni, kõike GitHubis dokumenteerides."
Natalia: "Aga tehnoloogiate loetelu iseenesest ei anna otsustusväärtust. Väärtus tekkis siis, kui igast sammust — seadistamisest kuni otsuseni — sai kontrollitav ahel. Täna näitame teile viit tõenduspõhist leidu ja kolme juhtimissoovitust."
„JA MIS SIIS?": Tööriist ise ei loo väärtust — kontrollitav analüüsiahel loob.
ÜLEMINEK: Liigume andmete usaldusväärsuse juurde — kas number, millega me töötame, on üldse õige?
GITHUB: portfooliod lingitud järgmistel slaididel.
VÕIMALIKUD Q&amp;A KÜSIMUSED:
- Miks just need viis sammu (seadista→kontrolli→analüüsi→näita→otsusta)?
- Kes vastutas milliste nädalate eest?
- Kas kõik neli liiget kasutasid sama tehnoloogiapinu?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Olga (sisu autor: Natalia, Week 2)
AJAVAHEMIK: 0:50–1:35 (osa "Andmete ülevaade I")
PÕHISÕNUM: Andmete puhastamine ei olnud tehniline kõrvaltegevus — see muutis juhtimisnumbrit väga olulises mahus (~33,5% algsest käibest).
KÕNETEKST (30–60s):
"Enne kui saime rääkida ühestki äriküsimusest, pidime kontrollima, kas meie numbrid on üldse õiged. Natalia Week 2 andmepuhastus näitas, et algsest 15 234 reast oli 5 116 duplikaati. Pärast puhastamist jäi 10 118 rida ja müügitulu number langes 4,37 miljonilt 2,91 miljoni euroni — korrektsioon 1,465 miljonit eurot, ligikaudu kolmandik algsest käibest."
„JA MIS SIIS?": Enne analüüsi tuleb veenduda, et lähteandmeid saab usaldada — vastasel juhul on iga järgnev otsus vale aluse peal.
ÜLEMINEK: Kui alus on kontrollitud, saame liikuda konkreetsete äriküsimuste juurde — varu, toode, kanal.
GITHUB: https://github.com/Nata376/daca-portfolio/tree/main/week-2
VÕIMALIKUD Q&amp;A KÜSIMUSED:
- Kuidas duplikaadid tuvastati?
- Miks oli korrektsioon nii suur?
- Kuidas kontrollsumma (1 465 054,19 €) saadi?
CAVEAT: Slaidil ei kasutata Helen Week 4 JOIN 34,53 mln € case'i — põhiloos on üks andmekvaliteedi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Olga (sisu autorid: Helen W3, Natalia W4, Kalju W3)
AJAVAHEMIK: 1:35–2:50 (osa "Andmete ülevaade II")
PÕHISÕNUM: Kontrollitud andmed võimaldasid liikuda üksikutest numbritest kolme konkreetse äriküsimuseni — varu, toode, kanal.
KÕNETEKST (30–60s):
"Kontrollitud andmete pealt tõusid esile kolm erinevat äriküsimust. Esiteks varud: Helenil Week 3 analüüs leidis 221 võimalikku reorder-risk positsiooni ja 730 võimalikku ülevaru kontrollpositsiooni — oluline, see ei ole tõestatud ülevaru, vaid signaal, mida kontrollida. Teiseks tooteportfell: Natalia Week 4 näitas, et meeste riided (4 121 tk, 749,8k €) ja jalanõud (3 737 tk, 774,0k €) tõestavad, et suurem maht ei tähenda automaatselt suuremat käivet. Kolmandaks kanalid: Kalju Week 3 järgi moodustavad Tallinn ja online kokku üle 72% tehingutest ja käibest — kahekordne prioriteet, aga ka kontsentratsioonirisk."
„JA MIS SIIS?": Iga leid vajab erinevat järgmist sammu — varu tasakaalustamist, tooteportfelli väärtuspõhist vaadet ja kanali riskijuhtimist.
ÜLEMINEK: Vaatame nüüd lähemalt kahte visualiseeringut, mis neid küsimusi kõige selgemalt tõendavad.
GITHUB: Helen W3 https://github.com/HelenTanner3/daca-portfolio/tree/main/01-sql/week-3 · Natalia W4 https://github.com/Nata376/daca-portfolio/tree/main/week-4 · Kalju W3 https://github.com/Kolju3/DACA-portfolio/blob/main/Week%203/Week_3_README.md
VÕIMALIKUD Q&amp;A KÜSIMUSED:
- Miks 730 ei ole tõestatud ülevaru?
- Kas 72% kehtib nii tehingute kui käibe kohta?
- Kas tooteportfellis on ka marginaali andmeid?
CAVEAT: reorder_point on juurdetellimise käivituspunkt, mitte optimaalne maksimaalne laotase — 730 on riskisignaal, mitte tõestatud ülevaru. Kanali &gt;72% näit vajab denominaatori kontrolli enne lõplikku eksporti.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Helen
AJAVAHEMIK: 2:50–3:50 (Visualiseering I)
PÕHISÕNUM: Tartu müügitulu kasvas 2024. aastal 13,4%, kuid kasv tuli suuremast tellimuste arvust (+16,5%), mitte suuremast keskmisest ostukorvist (AOV −2,6%).
KÕNETEKST (30–60s):
"See on päris Power BI dashboard Tartu kaupluse kohta. 2024. aasta müügitulu oli 260 044 eurot, kasv 13,4% võrreldes 2023. aastaga. Aga kui vaatame lähemalt, näeme, et tellimuste arv kasvas 777-lt 905-ni ehk 16,5% — samal ajal kui keskmine tellimuse väärtus langes 295 eurolt 287 eurole, ehk −2,6%. Kasv tuli rohkematest tellimustest, mitte suuremast ostukorvist."
„JA MIS SIIS?": Kasvu kvaliteeti ei saa hinnata ainult kogukäibe järgi — juhtkond peab vaatama koos käivet, tellimuste arvu ja keskmist väärtust.
ÜLEMINEK: Teine visualiseering näitab, kus meie kliendibaasis peitub kõige suurem väärtus.
GITHUB: https://github.com/HelenTanner3/daca-portfolio/tree/main/02-power-bi/week-6
VÕIMALIKUD Q&amp;A KÜSIMUSED:
- Miks AOV langes, kui käive kasvas?
- Kas see kehtib ka teiste kaupluste kohta?
- Mis põhjustas mai tugeva kasvu (+96,9%) ja aprilli languse (−30,9%)?
CAVEAT (kohustuslik): Dashboard näitab muutust, mustrit ja kõrvalekallet — see ei tõesta põhjust. Ei väideta, et kampaania, kliendisegment või hooajalisus põhjustas muutuse.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Kalju
AJAVAHEMIK: 3:50–4:50 (Visualiseering II)
PÕHISÕNUM: Väga väike kõrge väärtusega kliendigrupp (Top 10 VIP Champions) annab 8,64% RFM-analüüsis arvestatud käibest.
KÕNETEKST (30–60s):
"See on minu Python/Plotly visualiseering RFM-analüüsi tulemustest. Top 10 VIP Champions — kümme klienti — moodustavad 8,64% RFM-analüüsis arvestatud käibest, kogusummas üle 2,67 miljoni euro. See on RFM-analüüsi kaasatud klientide käive, mitte ettevõtte kogu müügikäive. Väga väike grupp kliente kannab ebaproportsionaalselt suurt osa väärtusest."
„JA MIS SIIS?": Kõige väärtuslikumate klientide hoidmisel võib olla ebaproportsionaalselt suur mõju käibele — nende kaotamine kaalub palju rohkem kui tavaklient.
ÜLEMINEK: Need kaks visualiseeringut — kasvu kvaliteet ja kliendikontsentratsioon — toovad meid kolme juhtimissoovituseni.
GITHUB: https://github.com/Kolju3/DACA-portfolio/tree/main/Week%207
Plot: https://github.com/Kolju3/DACA-portfolio/blob/main/Week%207/Week_7_Results/Top_10_osakaal.png
VÕIMALIKUD Q&amp;A KÜSIMUSED:
- Mis on täpne denominaator 8,64% taga?
- Kuidas Top 10 valiti?
- Kes tegi RFM-i alusanalüüsi?
CAVEAT (kohustuslik): 8,64% ei ole osakaal ettevõtte kogu käibest, vaid RFM-analüüsis arvestatud käibest. Põhiesitluses ei mainita, kes tegi RFM-i alusarvutuse — see kuulub Q&amp;A tõendusketti (vt Q&amp;A slaid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
AJAVAHEMIK: 4:50–6:00 ("3 soovitust")
PÕHISÕNUM: Kolm juhtimissoovitust tulenevad otse eelnevalt näidatud tõenditest — uut analüüsi ei lisata.
KÕNETEKST (30–60s):
"Kolm soovitust. Esiteks: tasakaalusta varusid — Helen leidis 221 reorder-risk ja 730 võimalikku ülevaru positsiooni, seega tuleb prioriseerida suurima kõrvalekaldega tooted ja lisada müügikiirus, hooajalisus ning tarneaeg analüüsi. Teiseks: juhi väärtust, mitte ainult mahtu — nii toodete kui Tartu kasvu näitajad tõestasid, et maht ja käive ei liigu alati koos. Kolmandaks: kaitse kõrge väärtusega kliendibaasi — kuna Top 10 VIP klienti annavad 8,64% analüüsitud käibest, tasub testida sihitud retention-lähenemist."
„JA MIS SIIS?": Need kolm sammu on otsene tegevusplaan järgmiseks kvartaliks — igaühel on selge tõend ja mõõdik.
ÜLEMINEK: Lõpetuseks vaatame, kuidas AI meid selle protsessi juures aitas — ja kus jäi vastutus inimesele.
GITHUB: Helen W3, Natalia W4, Helen W6, Kalju W7 (lingid slaidil)
VÕIMALIKUD Q&amp;A KÜSIMUSED:
- Miks täpselt need kolm, mitte rohkem?
- Kuidas soovituste mõju mõõdetakse?
- Kas soovitus 3 tähendab allahindlust VIP-klientidele?
CAVEAT: Uusi numbreid ega uusi analüüse ei ole lisatud — kõik tõendid on varasematelt slaididelt.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ESITLEJA: Natalia
AJAVAHEMIK: 6:00–7:00 (AI + lõpetus)
PÕHISÕNUM: AI aitas mõtestada, ehitada ja dokumenteerida, kuid inimene kontrollis andmeid, arvutusi ja järeldusi. Töötav kood ei tähenda automaatselt õiget tulemust.
KÕNETEKST (30–60s):
"Kasutasime AI-d kogu projekti vältel — aitamaks mõtestada ülesandeid, ehitada ja veaotsida SQL-i ning Pythonit, ja dokumenteerida oma tööd GitHubis. Aga iga andmepunkti, arvutuse ja järelduse kontrollis inimene: ridade arvu, duplikaate, kontrollsummasid, filtrikonteksti ja seda, mida number tegelikult tõendab. Töötav kood ei tähenda automaatselt õiget tulemust — AI kiirendas meie iteratsiooni, aga analüütiline vastutus jäi meile."
„JA MIS SIIS?": AI on kiirendaja, mitte otsustaja — iga väljund vajab inimese valideerimist enne, kui sellele otsuseid ehitada.
ÜLEMINEK: Sellega on põhiesitlus lõppenud — oleme valmis vastama küsimustele ja näitama detailseid tõenduskette.
GITHUB: kõik neli portfooliot lingitud eelnevatel slaididel.
VÕIMALIKUD Q&amp;A KÜSIMUSED:
- Milliseid AI tööriistu täpselt kasutati?
- Kuidas kontrolliti, kas AI genereeritud SQL/DAX on õige?
- Kas AI aitas ka äriliste järelduste sõnastamisel?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ta376/daca-portfolio/tree/main/week-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enTanner3/daca-portfolio/tree/main/01-sql/week-3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Kolju3/DACA-portfolio/blob/main/Week%203/Week_3_README.md" TargetMode="External"/><Relationship Id="rId4" Type="http://schemas.openxmlformats.org/officeDocument/2006/relationships/hyperlink" Target="https://github.com/Nata376/daca-portfolio/tree/main/week-4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HelenTanner3/daca-portfolio/tree/main/02-power-bi/week-6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olju3/DACA-portfolio/tree/main/Week%207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enTanner3/daca-portfolio/tree/main/01-sql/week-3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Kolju3/DACA-portfolio/tree/main/Week%207" TargetMode="External"/><Relationship Id="rId5" Type="http://schemas.openxmlformats.org/officeDocument/2006/relationships/hyperlink" Target="https://github.com/HelenTanner3/daca-portfolio/tree/main/02-power-bi/week-6" TargetMode="External"/><Relationship Id="rId4" Type="http://schemas.openxmlformats.org/officeDocument/2006/relationships/hyperlink" Target="https://github.com/Nata376/daca-portfolio/tree/main/week-4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ata376/daca-portfolio/tree/main/week-2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enTanner3/daca-portfolio/tree/main/01-sql/week-3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HelenTanner3/daca-portfolio/tree/main/03-python/week-7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Kolju3/DACA-portfolio/tree/main/Week%207" TargetMode="Externa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HelenTanner3/daca-portfolio/tree/main/03-python/week-7" TargetMode="External"/><Relationship Id="rId3" Type="http://schemas.openxmlformats.org/officeDocument/2006/relationships/hyperlink" Target="https://github.com/Nata376/daca-portfolio/tree/main/week-2" TargetMode="External"/><Relationship Id="rId7" Type="http://schemas.openxmlformats.org/officeDocument/2006/relationships/hyperlink" Target="https://github.com/HelenTanner3/daca-portfolio/tree/main/02-power-bi/week-6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Nata376/daca-portfolio/tree/main/week-4" TargetMode="External"/><Relationship Id="rId5" Type="http://schemas.openxmlformats.org/officeDocument/2006/relationships/hyperlink" Target="https://github.com/Kolju3/DACA-portfolio/blob/main/Week%203/Week_3_README.md" TargetMode="External"/><Relationship Id="rId4" Type="http://schemas.openxmlformats.org/officeDocument/2006/relationships/hyperlink" Target="https://github.com/HelenTanner3/daca-portfolio/tree/main/01-sql/week-3" TargetMode="External"/><Relationship Id="rId9" Type="http://schemas.openxmlformats.org/officeDocument/2006/relationships/hyperlink" Target="https://github.com/Kolju3/DACA-portfolio/tree/main/Week%20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66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 ·  DACA WEEK 10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91440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Andmetest otsuseni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659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Kümme nädalat töövahendeid muutis väärtuslikuks alles kontrollitav ja tõendatav analüüsiahel.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2279874" y="3680460"/>
            <a:ext cx="7631948" cy="0"/>
          </a:xfrm>
          <a:prstGeom prst="line">
            <a:avLst/>
          </a:prstGeom>
          <a:noFill/>
          <a:ln w="25400">
            <a:solidFill>
              <a:srgbClr val="3A3A55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1845534" y="3246120"/>
            <a:ext cx="868680" cy="868680"/>
          </a:xfrm>
          <a:prstGeom prst="ellipse">
            <a:avLst/>
          </a:prstGeom>
          <a:solidFill>
            <a:srgbClr val="2A2A45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 txBox="1"/>
          <p:nvPr/>
        </p:nvSpPr>
        <p:spPr>
          <a:xfrm>
            <a:off x="1845534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845534" y="3246120"/>
            <a:ext cx="868680" cy="868680"/>
          </a:xfrm>
          <a:prstGeom prst="ellipse">
            <a:avLst/>
          </a:prstGeom>
          <a:ln w="1905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 txBox="1"/>
          <p:nvPr/>
        </p:nvSpPr>
        <p:spPr>
          <a:xfrm>
            <a:off x="1325880" y="4279392"/>
            <a:ext cx="1907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SEADISTA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668494" y="3227832"/>
            <a:ext cx="1039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53521" y="3246120"/>
            <a:ext cx="868680" cy="868680"/>
          </a:xfrm>
          <a:prstGeom prst="ellipse">
            <a:avLst/>
          </a:prstGeom>
          <a:solidFill>
            <a:srgbClr val="2A2A45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 txBox="1"/>
          <p:nvPr/>
        </p:nvSpPr>
        <p:spPr>
          <a:xfrm>
            <a:off x="3753521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753521" y="3246120"/>
            <a:ext cx="868680" cy="868680"/>
          </a:xfrm>
          <a:prstGeom prst="ellipse">
            <a:avLst/>
          </a:prstGeom>
          <a:ln w="1905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 txBox="1"/>
          <p:nvPr/>
        </p:nvSpPr>
        <p:spPr>
          <a:xfrm>
            <a:off x="3233867" y="4279392"/>
            <a:ext cx="1907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6481" y="3227832"/>
            <a:ext cx="1039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661508" y="3246120"/>
            <a:ext cx="868680" cy="868680"/>
          </a:xfrm>
          <a:prstGeom prst="ellipse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 txBox="1"/>
          <p:nvPr/>
        </p:nvSpPr>
        <p:spPr>
          <a:xfrm>
            <a:off x="5661508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661508" y="3246120"/>
            <a:ext cx="868680" cy="868680"/>
          </a:xfrm>
          <a:prstGeom prst="ellipse">
            <a:avLst/>
          </a:prstGeom>
          <a:ln w="1905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 txBox="1"/>
          <p:nvPr/>
        </p:nvSpPr>
        <p:spPr>
          <a:xfrm>
            <a:off x="5141854" y="4279392"/>
            <a:ext cx="1907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ANALÜÜSI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84468" y="3227832"/>
            <a:ext cx="1039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69495" y="3246120"/>
            <a:ext cx="868680" cy="868680"/>
          </a:xfrm>
          <a:prstGeom prst="ellipse">
            <a:avLst/>
          </a:prstGeom>
          <a:solidFill>
            <a:srgbClr val="2A2A45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 txBox="1"/>
          <p:nvPr/>
        </p:nvSpPr>
        <p:spPr>
          <a:xfrm>
            <a:off x="7569495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569495" y="3246120"/>
            <a:ext cx="868680" cy="868680"/>
          </a:xfrm>
          <a:prstGeom prst="ellipse">
            <a:avLst/>
          </a:prstGeom>
          <a:ln w="1905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 txBox="1"/>
          <p:nvPr/>
        </p:nvSpPr>
        <p:spPr>
          <a:xfrm>
            <a:off x="7049841" y="4279392"/>
            <a:ext cx="1907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NÄITA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392455" y="3227832"/>
            <a:ext cx="103930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A5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77482" y="3246120"/>
            <a:ext cx="868680" cy="868680"/>
          </a:xfrm>
          <a:prstGeom prst="ellipse">
            <a:avLst/>
          </a:prstGeom>
          <a:solidFill>
            <a:srgbClr val="2A2A45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7" name="Text 25"/>
          <p:cNvSpPr txBox="1"/>
          <p:nvPr/>
        </p:nvSpPr>
        <p:spPr>
          <a:xfrm>
            <a:off x="9477482" y="32461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477482" y="3246120"/>
            <a:ext cx="868680" cy="868680"/>
          </a:xfrm>
          <a:prstGeom prst="ellipse">
            <a:avLst/>
          </a:prstGeom>
          <a:ln w="19050">
            <a:solidFill>
              <a:srgbClr val="009B8D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 txBox="1"/>
          <p:nvPr/>
        </p:nvSpPr>
        <p:spPr>
          <a:xfrm>
            <a:off x="8957828" y="4279392"/>
            <a:ext cx="19079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OTSUSTA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22960" y="4892040"/>
            <a:ext cx="10543032" cy="0"/>
          </a:xfrm>
          <a:prstGeom prst="line">
            <a:avLst/>
          </a:prstGeom>
          <a:noFill/>
          <a:ln w="12700">
            <a:solidFill>
              <a:srgbClr val="31314A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Text 29"/>
          <p:cNvSpPr txBox="1"/>
          <p:nvPr/>
        </p:nvSpPr>
        <p:spPr>
          <a:xfrm>
            <a:off x="822960" y="5074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MEESKOND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3309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  ·   Olga   ·   Helen   ·   Natalia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0749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TÖÖRIISTAAHEL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53309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Supabase/PostgreSQL · SQL · Python/pandas · Power BI · Git/GitHub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D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„Ja mis siis?“ — igal leiul peab olema äriline vastus.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2296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9FF99BD-075F-4761-A995-6FC574BD25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B21A54-9BA3-4EA9-B460-5A829ADD9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FA8F714-B9D8-488A-8CCA-E9948FF91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988717-BA01-B1BC-5984-666A215BB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77" y="1174504"/>
            <a:ext cx="9951041" cy="450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09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· NATALIA — WEEK 2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840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OLGA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0:50–1:35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puhastamine muutis juhtimisnumbrit kolmandiku võrra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4160520" cy="1783080"/>
          </a:xfrm>
          <a:prstGeom prst="roundRect">
            <a:avLst>
              <a:gd name="adj" fmla="val 3590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868680" y="21671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 PUHASTAMIST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68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 mln €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15 234 rida · algne müügitulu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79792" y="1965960"/>
            <a:ext cx="4160520" cy="1783080"/>
          </a:xfrm>
          <a:prstGeom prst="roundRect">
            <a:avLst>
              <a:gd name="adj" fmla="val 359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0" name="Text 8"/>
          <p:cNvSpPr txBox="1"/>
          <p:nvPr/>
        </p:nvSpPr>
        <p:spPr>
          <a:xfrm>
            <a:off x="7799832" y="21671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PÄRAST PUHASTAMIST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799832" y="24688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2,91 mln €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7799832" y="33375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10 118 rida · kontrollitud müügitulu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2468880"/>
            <a:ext cx="2770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3017520"/>
            <a:ext cx="30449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−1,465 mln €</a:t>
            </a:r>
            <a:endParaRPr lang="en-US" sz="1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(~33,5%)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777240" y="4251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15 234 → 10 118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4636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rida pärast puhastamist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70832" y="41605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 txBox="1"/>
          <p:nvPr/>
        </p:nvSpPr>
        <p:spPr>
          <a:xfrm>
            <a:off x="4599432" y="4251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5 116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4599432" y="4636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duplikaatrida eemaldatud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193024" y="4160520"/>
            <a:ext cx="35661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 txBox="1"/>
          <p:nvPr/>
        </p:nvSpPr>
        <p:spPr>
          <a:xfrm>
            <a:off x="8421624" y="42519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1 465 054 €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8421624" y="46360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käibekorrektsiooni suurus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193792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 txBox="1"/>
          <p:nvPr/>
        </p:nvSpPr>
        <p:spPr>
          <a:xfrm>
            <a:off x="822960" y="519379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mis siis?  </a:t>
            </a: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Enne analüüsi tuleb veenduda, et lähteandmeid saab usaldada.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653796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Natalia — Week 2 (data cleaning)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ANDMETE ÜLEVAADE · HELEN · NATALIA · KALJU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840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OLGA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1:35–2:50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Kontrollitud andmed tõstatasid kolm erinevat äriküsimust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529584" cy="3703320"/>
          </a:xfrm>
          <a:prstGeom prst="roundRect">
            <a:avLst>
              <a:gd name="adj" fmla="val 1813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822960" y="21305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 txBox="1"/>
          <p:nvPr/>
        </p:nvSpPr>
        <p:spPr>
          <a:xfrm>
            <a:off x="822960" y="2130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3288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· Week 3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↔ 730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3016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reorder-risk vs võimalik ülevaru — kontrollpositsioon, mitte tõestatud ülevaru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22960" y="4727448"/>
            <a:ext cx="2980944" cy="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2" name="Text 10"/>
          <p:cNvSpPr txBox="1"/>
          <p:nvPr/>
        </p:nvSpPr>
        <p:spPr>
          <a:xfrm>
            <a:off x="822960" y="481888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 võib olla valesti jaotunud: ühes kohas saadavusrisk, teises liiga kõrge laoseis.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1937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Helen — Week 3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4256" y="1874520"/>
            <a:ext cx="3529584" cy="3703320"/>
          </a:xfrm>
          <a:prstGeom prst="roundRect">
            <a:avLst>
              <a:gd name="adj" fmla="val 1813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5" name="Shape 13"/>
          <p:cNvSpPr/>
          <p:nvPr/>
        </p:nvSpPr>
        <p:spPr>
          <a:xfrm>
            <a:off x="4608576" y="21305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4608576" y="2130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TOODE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08576" y="253288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· Week 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289864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4 121 tk</a:t>
            </a:r>
            <a:endParaRPr lang="en-US" sz="2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749,8k €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4608576" y="3566160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3 737 tk</a:t>
            </a:r>
            <a:endParaRPr lang="en-US" sz="21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774,0k €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4608576" y="427939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meeste riided vs jalanõud — maht ja käive koos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08576" y="4727448"/>
            <a:ext cx="2980944" cy="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2" name="Text 20"/>
          <p:cNvSpPr txBox="1"/>
          <p:nvPr/>
        </p:nvSpPr>
        <p:spPr>
          <a:xfrm>
            <a:off x="4608576" y="481888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Suurem müügimaht ei tähenda automaatselt suuremat käivet.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608576" y="51937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Natalia — Week 4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19872" y="1874520"/>
            <a:ext cx="3529584" cy="3703320"/>
          </a:xfrm>
          <a:prstGeom prst="roundRect">
            <a:avLst>
              <a:gd name="adj" fmla="val 1813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Shape 23"/>
          <p:cNvSpPr/>
          <p:nvPr/>
        </p:nvSpPr>
        <p:spPr>
          <a:xfrm>
            <a:off x="8394192" y="21305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6" name="Text 24"/>
          <p:cNvSpPr txBox="1"/>
          <p:nvPr/>
        </p:nvSpPr>
        <p:spPr>
          <a:xfrm>
            <a:off x="8394192" y="2130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94192" y="2532888"/>
            <a:ext cx="2980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· Week 3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94192" y="3017520"/>
            <a:ext cx="2980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72%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8394192" y="363016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Tallinn + online osakaal tehingutest ja käibest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394192" y="4727448"/>
            <a:ext cx="2980944" cy="0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1" name="Text 29"/>
          <p:cNvSpPr txBox="1"/>
          <p:nvPr/>
        </p:nvSpPr>
        <p:spPr>
          <a:xfrm>
            <a:off x="8394192" y="4818888"/>
            <a:ext cx="29809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Kaks põhikanalit on korraga prioriteet ja kontsentratsioonirisk.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8394192" y="5193792"/>
            <a:ext cx="2980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Kalju — Week 3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71500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  →  TOODE  →  KANAL  —  kontrollitud andmed viisid konkreetsete äriküsimusteni.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VISUALISEERING I · HELEN — WEEK 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840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2:50–3:50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Tartu kasv tuli tellimuste arvust, mitte suuremast ostukorvist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75488" y="1709928"/>
            <a:ext cx="6867144" cy="3907335"/>
          </a:xfrm>
          <a:prstGeom prst="roundRect">
            <a:avLst>
              <a:gd name="adj" fmla="val 1170"/>
            </a:avLst>
          </a:prstGeom>
          <a:solidFill>
            <a:srgbClr val="FFFFFF"/>
          </a:solidFill>
          <a:ln w="15875">
            <a:solidFill>
              <a:srgbClr val="DADFE3"/>
            </a:solidFill>
            <a:prstDash val="solid"/>
          </a:ln>
          <a:effectLst>
            <a:outerShdw blurRad="1016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pic>
        <p:nvPicPr>
          <p:cNvPr id="6" name="Image 0" descr="/mnt/user-data/uploads/w6_role_b_tartu_kauplus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6720840" cy="376103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5672127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Päris Power BI dashboard · Tartu kauplus · Helen, Week 6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7571232" y="181051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MÜÜGITULU, TARTU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7571232" y="2048256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260 044 €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7571232" y="2788920"/>
            <a:ext cx="4069080" cy="603504"/>
          </a:xfrm>
          <a:prstGeom prst="roundRect">
            <a:avLst>
              <a:gd name="adj" fmla="val 757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1" name="Text 8"/>
          <p:cNvSpPr txBox="1"/>
          <p:nvPr/>
        </p:nvSpPr>
        <p:spPr>
          <a:xfrm>
            <a:off x="7772400" y="2788920"/>
            <a:ext cx="22379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Müügitulu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605772" y="2788920"/>
            <a:ext cx="19531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+13,4%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571232" y="3502152"/>
            <a:ext cx="4069080" cy="603504"/>
          </a:xfrm>
          <a:prstGeom prst="roundRect">
            <a:avLst>
              <a:gd name="adj" fmla="val 757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4" name="Text 11"/>
          <p:cNvSpPr txBox="1"/>
          <p:nvPr/>
        </p:nvSpPr>
        <p:spPr>
          <a:xfrm>
            <a:off x="7772400" y="3502152"/>
            <a:ext cx="22379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Tellimuste arv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9605772" y="3502152"/>
            <a:ext cx="19531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00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+16,5%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571232" y="4215384"/>
            <a:ext cx="4069080" cy="603504"/>
          </a:xfrm>
          <a:prstGeom prst="roundRect">
            <a:avLst>
              <a:gd name="adj" fmla="val 7576"/>
            </a:avLst>
          </a:prstGeom>
          <a:solidFill>
            <a:srgbClr val="F5F5F5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7" name="Text 14"/>
          <p:cNvSpPr txBox="1"/>
          <p:nvPr/>
        </p:nvSpPr>
        <p:spPr>
          <a:xfrm>
            <a:off x="7772400" y="4215384"/>
            <a:ext cx="223799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Keskmine tellimus (AOV)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605772" y="4215384"/>
            <a:ext cx="195315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−2,6%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571232" y="4946904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777 → 905 tellimust  ·  295,13 € → 287,34 € AOV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571232" y="5340096"/>
            <a:ext cx="4069080" cy="1417320"/>
          </a:xfrm>
          <a:prstGeom prst="roundRect">
            <a:avLst>
              <a:gd name="adj" fmla="val 3871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1" name="Text 18"/>
          <p:cNvSpPr txBox="1"/>
          <p:nvPr/>
        </p:nvSpPr>
        <p:spPr>
          <a:xfrm>
            <a:off x="7772400" y="5340096"/>
            <a:ext cx="36667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mis siis?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Kasvu kvaliteeti ei saa hinnata ainult kogukäibe järgi — koos tuleb vaadata käivet, tellimuste arvu ja keskmist tellimuse väärtust.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näitab muutust ja mustrit — mitte põhjust. Kampaania, kliendisegmendi või hooajalisuse mõju ei ole tõendatud.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138160" y="653796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Helen — Week 6 (Power BI)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25" name="Text 22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VISUALISEERING II · KALJU — WEEK 7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840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3:50–4:50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Väike VIP-kliendigrupp annab ebaproportsionaalselt suure osa käibest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VIP CHAMPIONS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4160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8,64%</a:t>
            </a:r>
            <a:endParaRPr lang="en-US" sz="7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61188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RFM-analüüsis arvestatud käibest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4160520" cy="1508760"/>
          </a:xfrm>
          <a:prstGeom prst="roundRect">
            <a:avLst>
              <a:gd name="adj" fmla="val 3636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 txBox="1"/>
          <p:nvPr/>
        </p:nvSpPr>
        <p:spPr>
          <a:xfrm>
            <a:off x="749808" y="4160520"/>
            <a:ext cx="375818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 mis siis?  </a:t>
            </a: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Kõige väärtuslikumate klientide hoidmisel võib olla ebaproportsionaalselt suur mõju käibele.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Denominaator: RFM-analüüsi kaasatud klientide käive (monetary value) — mitte ettevõtte kogu müügikäive.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0" y="1737360"/>
            <a:ext cx="6409944" cy="3718536"/>
          </a:xfrm>
          <a:prstGeom prst="roundRect">
            <a:avLst>
              <a:gd name="adj" fmla="val 1230"/>
            </a:avLst>
          </a:prstGeom>
          <a:solidFill>
            <a:srgbClr val="111111"/>
          </a:solidFill>
          <a:ln w="15875">
            <a:solidFill>
              <a:srgbClr val="DADFE3"/>
            </a:solidFill>
            <a:prstDash val="solid"/>
          </a:ln>
          <a:effectLst>
            <a:outerShdw blurRad="101600" dist="25400" dir="5400000" algn="bl" rotWithShape="0">
              <a:srgbClr val="999999">
                <a:alpha val="25000"/>
              </a:srgbClr>
            </a:outerShdw>
          </a:effectLst>
        </p:spPr>
        <p:txBody>
          <a:bodyPr/>
          <a:lstStyle/>
          <a:p>
            <a:endParaRPr lang="et-EE"/>
          </a:p>
        </p:txBody>
      </p:sp>
      <p:pic>
        <p:nvPicPr>
          <p:cNvPr id="12" name="Image 0" descr="/home/claude/proj_top10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810512"/>
            <a:ext cx="6263640" cy="35722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5559552" y="5510760"/>
            <a:ext cx="6263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Päris Plotly väljund · Top_10_osakaal.png · Kalju, Week 7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653796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Kalju — Week 7 (RFM/Plotly)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16" name="Text 13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JUHTIMISSOOVITUSED · NATALIA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840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4:50–6:00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Kolm tõenduspõhist juhtimissoovitust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91672" cy="1389888"/>
          </a:xfrm>
          <a:prstGeom prst="roundRect">
            <a:avLst>
              <a:gd name="adj" fmla="val 3947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Shape 4"/>
          <p:cNvSpPr/>
          <p:nvPr/>
        </p:nvSpPr>
        <p:spPr>
          <a:xfrm>
            <a:off x="822960" y="2249424"/>
            <a:ext cx="640080" cy="640080"/>
          </a:xfrm>
          <a:prstGeom prst="ellipse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7" name="Text 5"/>
          <p:cNvSpPr txBox="1"/>
          <p:nvPr/>
        </p:nvSpPr>
        <p:spPr>
          <a:xfrm>
            <a:off x="822960" y="22494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039112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Tasakaalusta varusid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880360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Tõend — Helen, Week 3:  221 ↔ 730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0" y="2075688"/>
            <a:ext cx="0" cy="987552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 txBox="1"/>
          <p:nvPr/>
        </p:nvSpPr>
        <p:spPr>
          <a:xfrm>
            <a:off x="6217920" y="2039112"/>
            <a:ext cx="5074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Prioriseerida suurima kõrvalekaldega toote-asukoha positsioonide kontroll. Lisada müügikiirus, hooajalisus, tarneaeg ja seotud kapital.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217920" y="294436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Helen — Week 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1091672" cy="1389888"/>
          </a:xfrm>
          <a:prstGeom prst="roundRect">
            <a:avLst>
              <a:gd name="adj" fmla="val 3947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Shape 12"/>
          <p:cNvSpPr/>
          <p:nvPr/>
        </p:nvSpPr>
        <p:spPr>
          <a:xfrm>
            <a:off x="822960" y="3822192"/>
            <a:ext cx="640080" cy="640080"/>
          </a:xfrm>
          <a:prstGeom prst="ellipse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5" name="Text 13"/>
          <p:cNvSpPr txBox="1"/>
          <p:nvPr/>
        </p:nvSpPr>
        <p:spPr>
          <a:xfrm>
            <a:off x="822960" y="38221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361188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Juhi väärtust, mitte ainult mahtu</a:t>
            </a:r>
            <a:endParaRPr lang="en-US" sz="165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453128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Tõend — Natalia W4 (749,8k € / 774,0k €) + Helen W6 (+13,4% / +16,5% / −2,6%)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43600" y="3648456"/>
            <a:ext cx="0" cy="987552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9" name="Text 17"/>
          <p:cNvSpPr txBox="1"/>
          <p:nvPr/>
        </p:nvSpPr>
        <p:spPr>
          <a:xfrm>
            <a:off x="6217920" y="3611880"/>
            <a:ext cx="5074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Vaadata koos käivet, müügimahtu/tellimusi ja keskmist väärtust — mitte ühte mahu-KPId eraldi.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4517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Natalia — Week 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915400" y="451713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Helen — Week 6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020056"/>
            <a:ext cx="11091672" cy="1389888"/>
          </a:xfrm>
          <a:prstGeom prst="roundRect">
            <a:avLst>
              <a:gd name="adj" fmla="val 3947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3" name="Shape 21"/>
          <p:cNvSpPr/>
          <p:nvPr/>
        </p:nvSpPr>
        <p:spPr>
          <a:xfrm>
            <a:off x="822960" y="5394960"/>
            <a:ext cx="640080" cy="640080"/>
          </a:xfrm>
          <a:prstGeom prst="ellipse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 txBox="1"/>
          <p:nvPr/>
        </p:nvSpPr>
        <p:spPr>
          <a:xfrm>
            <a:off x="822960" y="5394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691640" y="5184648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Kaitse kõrge väärtusega kliendibaasi</a:t>
            </a:r>
            <a:endParaRPr lang="en-US" sz="165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6025896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Tõend — Kalju, Week 7:  8,64% RFM-analüüsis arvestatud käibest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943600" y="5221224"/>
            <a:ext cx="0" cy="987552"/>
          </a:xfrm>
          <a:prstGeom prst="line">
            <a:avLst/>
          </a:prstGeom>
          <a:noFill/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8" name="Text 26"/>
          <p:cNvSpPr txBox="1"/>
          <p:nvPr/>
        </p:nvSpPr>
        <p:spPr>
          <a:xfrm>
            <a:off x="6217920" y="5184648"/>
            <a:ext cx="5074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Testida sihitud VIP/Loyal retention-lähenemist: varajane ligipääs, eksklusiivsus, personaalne teenus. Mõõta kordusostu ja kliendiväärtuse säilimist.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217920" y="6089904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Kalju — Week 7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KASUTAMINE · NATALIA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3840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 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6:00–7:00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13232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kiirendas iteratsiooni — analüütiline vastutus jäi inimesele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709160" cy="3063240"/>
          </a:xfrm>
          <a:prstGeom prst="roundRect">
            <a:avLst>
              <a:gd name="adj" fmla="val 2090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841248" y="21031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AITAS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560320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Mõtestada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62072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ülesandeid, uusi mõisteid, lahendusvariante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337560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Ehitada ja veaotsida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3639312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SQL, Python/pandas, DAX, tehnilised alternatiivid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4114800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Dokumenteerida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4416552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analüüs, GitHub, sõnastus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367528" y="3022092"/>
            <a:ext cx="896112" cy="768096"/>
          </a:xfrm>
          <a:prstGeom prst="roundRect">
            <a:avLst>
              <a:gd name="adj" fmla="val 50000"/>
            </a:avLst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 txBox="1"/>
          <p:nvPr/>
        </p:nvSpPr>
        <p:spPr>
          <a:xfrm>
            <a:off x="5367528" y="3022092"/>
            <a:ext cx="89611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</a:t>
            </a:r>
            <a:endParaRPr lang="en-US" sz="8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931152" y="1874520"/>
            <a:ext cx="4709160" cy="3063240"/>
          </a:xfrm>
          <a:prstGeom prst="roundRect">
            <a:avLst>
              <a:gd name="adj" fmla="val 209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7223760" y="210312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INIMENE KONTROLLIS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2560320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2862072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ridade arv, duplikaadid, NULL-id, kuupäevad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7223760" y="3337560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Arvutused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3639312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kontrollsummad, KPI-d, filtrikontekst, loogika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4114800"/>
            <a:ext cx="4123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Järeldused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416552"/>
            <a:ext cx="4123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 number tõendab ja mida ei tõenda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166360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E8F5F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 txBox="1"/>
          <p:nvPr/>
        </p:nvSpPr>
        <p:spPr>
          <a:xfrm>
            <a:off x="822960" y="51663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Töötav kood ei tähenda automaatselt õiget tulemust.  </a:t>
            </a:r>
            <a:r>
              <a:rPr lang="en-US" sz="1450" i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kiirendas iteratsiooni, kuid analüütiline vastutus jäi inimesele.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KÜSIMUSED JA TÕENDID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06324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69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Metoodika  ·  Arvutus  ·  Piirang  ·  Omanik  ·  GitHub-tõend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TÕENDUSKETT A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Andmekvaliteedi tõenduskett — Natalia, Week 2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 txBox="1"/>
          <p:nvPr/>
        </p:nvSpPr>
        <p:spPr>
          <a:xfrm>
            <a:off x="548640" y="19385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15 234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3230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algne ridade arv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18288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83280" y="18288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DEEE3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 txBox="1"/>
          <p:nvPr/>
        </p:nvSpPr>
        <p:spPr>
          <a:xfrm>
            <a:off x="3383280" y="19385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− 5 116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243230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duplikaatrida eemaldatud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5715000" y="182880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182880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 txBox="1"/>
          <p:nvPr/>
        </p:nvSpPr>
        <p:spPr>
          <a:xfrm>
            <a:off x="6217920" y="193852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10 118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3230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puhastatud ridade arv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10896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6" name="Text 14"/>
          <p:cNvSpPr txBox="1"/>
          <p:nvPr/>
        </p:nvSpPr>
        <p:spPr>
          <a:xfrm>
            <a:off x="548640" y="3218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4,374 mln €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124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algne müügitulu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310896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383280" y="3108960"/>
            <a:ext cx="2331720" cy="960120"/>
          </a:xfrm>
          <a:prstGeom prst="roundRect">
            <a:avLst>
              <a:gd name="adj" fmla="val 5714"/>
            </a:avLst>
          </a:prstGeom>
          <a:solidFill>
            <a:srgbClr val="1A1A2E"/>
          </a:solidFill>
          <a:ln w="12700"/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 txBox="1"/>
          <p:nvPr/>
        </p:nvSpPr>
        <p:spPr>
          <a:xfrm>
            <a:off x="3383280" y="321868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2,909 mln €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71246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9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kontrollitud müügitulu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309360" y="336499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Käibekorrektsioon: 1 465 054,19 € (~33,5% algsest käibest)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48640" y="443484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4" name="Text 22"/>
          <p:cNvSpPr txBox="1"/>
          <p:nvPr/>
        </p:nvSpPr>
        <p:spPr>
          <a:xfrm>
            <a:off x="822960" y="459943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KASUTUS — VASTAB KÜSIMUSTELE: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910328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Kuidas duplikaadid tuvastati?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Miks oli korrektsioon nii suur?
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Kuidas kontrollsumma saadi?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138160" y="653796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Natalia — Week 2 (data cleaning)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TÕENDUSKETT B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Varude analüüsi tõenduskett — Helen, Week 3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 txBox="1"/>
          <p:nvPr/>
        </p:nvSpPr>
        <p:spPr>
          <a:xfrm>
            <a:off x="658368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560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reorder-risk positsiooni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79776" y="1828800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8" name="Text 6"/>
          <p:cNvSpPr txBox="1"/>
          <p:nvPr/>
        </p:nvSpPr>
        <p:spPr>
          <a:xfrm>
            <a:off x="2889504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2889504" y="2560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3× reorder point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10912" y="1828800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1" name="Text 9"/>
          <p:cNvSpPr txBox="1"/>
          <p:nvPr/>
        </p:nvSpPr>
        <p:spPr>
          <a:xfrm>
            <a:off x="5120640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560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10× reorder point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242048" y="1828800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4" name="Text 12"/>
          <p:cNvSpPr txBox="1"/>
          <p:nvPr/>
        </p:nvSpPr>
        <p:spPr>
          <a:xfrm>
            <a:off x="7351776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7351776" y="2560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100× reorder point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473184" y="1828800"/>
            <a:ext cx="2084832" cy="1234440"/>
          </a:xfrm>
          <a:prstGeom prst="roundRect">
            <a:avLst>
              <a:gd name="adj" fmla="val 4444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 txBox="1"/>
          <p:nvPr/>
        </p:nvSpPr>
        <p:spPr>
          <a:xfrm>
            <a:off x="9582912" y="196596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628,6×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582912" y="256032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maksimaalne kõrvalekalle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DEEE3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20" name="Text 18"/>
          <p:cNvSpPr txBox="1"/>
          <p:nvPr/>
        </p:nvSpPr>
        <p:spPr>
          <a:xfrm>
            <a:off x="822960" y="33375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5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Kohustuslik piirang: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reorder_point on juurdetellimise käivituspunkt, mitte optimaalne maksimaalne laotase. 730 EI TÄHENDA tõestatud ülevaru — see on kontrollsignaal / riskisignaal.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JÄRGMINE ANALÜÜS VAJAKS: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28616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Müügikiirus   ·   Hooajalisus   ·   Lead time   ·   Min/max varupoliitika   ·   Ostuhind / seotud kapital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6537960"/>
            <a:ext cx="3502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Helen — Week 3 (inventory)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TÕENDUSKETT C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tõenduskett — Helen (alusanalüüs) → Kalju (visualiseerimine)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F5F5F5"/>
          </a:solidFill>
          <a:ln w="12700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5" name="Shape 3"/>
          <p:cNvSpPr/>
          <p:nvPr/>
        </p:nvSpPr>
        <p:spPr>
          <a:xfrm>
            <a:off x="841248" y="2240280"/>
            <a:ext cx="640080" cy="640080"/>
          </a:xfrm>
          <a:prstGeom prst="ellipse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6" name="Text 4"/>
          <p:cNvSpPr txBox="1"/>
          <p:nvPr/>
        </p:nvSpPr>
        <p:spPr>
          <a:xfrm>
            <a:off x="841248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075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ALUSANALÜÜS  ·  Helen — Week 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5000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+ Loyal = 44,65% klientidest → 72,57% Monetary väärtusest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8803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Helen — Week 7 (RFM/Python)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2461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3611880"/>
            <a:ext cx="11091672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2" name="Shape 10"/>
          <p:cNvSpPr/>
          <p:nvPr/>
        </p:nvSpPr>
        <p:spPr>
          <a:xfrm>
            <a:off x="841248" y="3977640"/>
            <a:ext cx="640080" cy="640080"/>
          </a:xfrm>
          <a:prstGeom prst="ellipse">
            <a:avLst/>
          </a:prstGeom>
          <a:solidFill>
            <a:srgbClr val="009B8D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 txBox="1"/>
          <p:nvPr/>
        </p:nvSpPr>
        <p:spPr>
          <a:xfrm>
            <a:off x="841248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3813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VISUALISEERIMINE JA ÄRITÕLGENDUS  ·  Kalju — Week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408736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VIP Champions = 8,64% RFM-analüüsis arvestatud käibest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691640" y="461772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</a:t>
            </a:r>
            <a:r>
              <a:rPr lang="en-US" sz="1050" u="sng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Kalju — Week 7 (RFM/Plotly)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2120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Kasutus: kust segmendid tulid?  ·  kuidas Top 10 valiti?  ·  kuidas 8,64% arvutati?  ·  kuidas grupitöö jagunes?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5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· TÕENDID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2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Meetodid ja GitHubi tõendid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1672" cy="4572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t-EE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TEEMA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160520" y="1920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OMANIK / CASE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1920240"/>
            <a:ext cx="4416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009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TÕEND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110916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9" name="Text 7"/>
          <p:cNvSpPr txBox="1"/>
          <p:nvPr/>
        </p:nvSpPr>
        <p:spPr>
          <a:xfrm>
            <a:off x="777240" y="23774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2377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— Week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37744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</a:t>
            </a:r>
            <a:r>
              <a:rPr lang="en-US" sz="100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Nata376/daca-portfolio/tree/main/week-2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11091672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3" name="Text 11"/>
          <p:cNvSpPr txBox="1"/>
          <p:nvPr/>
        </p:nvSpPr>
        <p:spPr>
          <a:xfrm>
            <a:off x="777240" y="29260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60520" y="29260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— Week 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292608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</a:t>
            </a:r>
            <a:r>
              <a:rPr lang="en-US" sz="100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HelenTanner3/daca-portfolio/tree/main/01-sql/week-3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110916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17" name="Text 15"/>
          <p:cNvSpPr txBox="1"/>
          <p:nvPr/>
        </p:nvSpPr>
        <p:spPr>
          <a:xfrm>
            <a:off x="777240" y="347472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channels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160520" y="34747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— Week 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347472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</a:t>
            </a:r>
            <a:r>
              <a:rPr lang="en-US" sz="100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Kolju3/DACA-portfolio/blob/main/Week%203/Week_3_README.md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91672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1" name="Text 19"/>
          <p:cNvSpPr txBox="1"/>
          <p:nvPr/>
        </p:nvSpPr>
        <p:spPr>
          <a:xfrm>
            <a:off x="777240" y="402336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analysis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160520" y="40233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Natalia — Week 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402336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</a:t>
            </a:r>
            <a:r>
              <a:rPr lang="en-US" sz="100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Nata376/daca-portfolio/tree/main/week-4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572000"/>
            <a:ext cx="110916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5" name="Text 23"/>
          <p:cNvSpPr txBox="1"/>
          <p:nvPr/>
        </p:nvSpPr>
        <p:spPr>
          <a:xfrm>
            <a:off x="777240" y="457200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160520" y="45720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— Week 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086600" y="457200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</a:t>
            </a:r>
            <a:r>
              <a:rPr lang="en-US" sz="100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HelenTanner3/daca-portfolio/tree/main/02-power-bi/week-6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11091672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29" name="Text 27"/>
          <p:cNvSpPr txBox="1"/>
          <p:nvPr/>
        </p:nvSpPr>
        <p:spPr>
          <a:xfrm>
            <a:off x="777240" y="5120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/ Python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160520" y="51206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Helen — Week 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512064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</a:t>
            </a:r>
            <a:r>
              <a:rPr lang="en-US" sz="100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HelenTanner3/daca-portfolio/tree/main/03-python/week-7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5669280"/>
            <a:ext cx="1109167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FE3"/>
            </a:solidFill>
            <a:prstDash val="solid"/>
          </a:ln>
        </p:spPr>
        <p:txBody>
          <a:bodyPr/>
          <a:lstStyle/>
          <a:p>
            <a:endParaRPr lang="et-EE"/>
          </a:p>
        </p:txBody>
      </p:sp>
      <p:sp>
        <p:nvSpPr>
          <p:cNvPr id="33" name="Text 31"/>
          <p:cNvSpPr txBox="1"/>
          <p:nvPr/>
        </p:nvSpPr>
        <p:spPr>
          <a:xfrm>
            <a:off x="777240" y="56692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 / Plotly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160520" y="5669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Kalju — Week 7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7086600" y="566928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↗  </a:t>
            </a:r>
            <a:r>
              <a:rPr lang="en-US" sz="1000" u="sng" dirty="0">
                <a:solidFill>
                  <a:srgbClr val="007A7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Kolju3/DACA-portfolio/tree/main/Week%207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5471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INTELLIGENCE · DACA WEEK 10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1164031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3046</Words>
  <Application>Microsoft Office PowerPoint</Application>
  <PresentationFormat>Widescreen</PresentationFormat>
  <Paragraphs>253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Helen Tanner</cp:lastModifiedBy>
  <cp:revision>2</cp:revision>
  <dcterms:created xsi:type="dcterms:W3CDTF">2026-08-27T19:08:25Z</dcterms:created>
  <dcterms:modified xsi:type="dcterms:W3CDTF">2026-08-27T19:42:46Z</dcterms:modified>
</cp:coreProperties>
</file>