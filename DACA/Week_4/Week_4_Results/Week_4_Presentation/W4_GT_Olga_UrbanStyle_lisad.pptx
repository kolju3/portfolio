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71" r:id="rId11"/>
    <p:sldId id="270" r:id="rId12"/>
    <p:sldId id="263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AF00B-DCCD-4EE4-8918-F082EE268582}" type="datetimeFigureOut">
              <a:rPr lang="et-EE" smtClean="0"/>
              <a:t>17.07.2026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38BC4-2F8B-4453-A35F-146D8859BA8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1748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38BC4-2F8B-4453-A35F-146D8859BA86}" type="slidenum">
              <a:rPr lang="et-EE" smtClean="0"/>
              <a:t>8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89307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95379" y="4114353"/>
            <a:ext cx="15017155" cy="4406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922" y="1360575"/>
            <a:ext cx="14658065" cy="1966684"/>
          </a:xfrm>
          <a:effectLst/>
        </p:spPr>
        <p:txBody>
          <a:bodyPr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4926" y="3327261"/>
            <a:ext cx="14658061" cy="787095"/>
          </a:xfrm>
        </p:spPr>
        <p:txBody>
          <a:bodyPr anchor="t">
            <a:normAutofit/>
          </a:bodyPr>
          <a:lstStyle>
            <a:lvl1pPr marL="0" indent="0" algn="l">
              <a:buNone/>
              <a:defRPr sz="2133" cap="all">
                <a:solidFill>
                  <a:schemeClr val="accent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41268" y="7941517"/>
            <a:ext cx="3793067" cy="486833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7935749"/>
            <a:ext cx="9222947" cy="486833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077734" y="7941517"/>
            <a:ext cx="1355253" cy="486833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0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87048" y="819209"/>
            <a:ext cx="15079117" cy="15857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3" y="936208"/>
            <a:ext cx="14706155" cy="1351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924" y="2907329"/>
            <a:ext cx="14706153" cy="490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077733" y="7941517"/>
            <a:ext cx="1403344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86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97089" y="6855966"/>
            <a:ext cx="15054480" cy="16784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5" y="4058547"/>
            <a:ext cx="14706153" cy="1996676"/>
          </a:xfrm>
        </p:spPr>
        <p:txBody>
          <a:bodyPr anchor="b">
            <a:normAutofit/>
          </a:bodyPr>
          <a:lstStyle>
            <a:lvl1pPr algn="l">
              <a:defRPr sz="48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924" y="6055223"/>
            <a:ext cx="14706153" cy="800741"/>
          </a:xfrm>
        </p:spPr>
        <p:txBody>
          <a:bodyPr anchor="t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1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94643" y="808739"/>
            <a:ext cx="15066715" cy="16784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4" y="972877"/>
            <a:ext cx="14706155" cy="1317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4924" y="2970671"/>
            <a:ext cx="7229853" cy="48440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51223" y="2970671"/>
            <a:ext cx="7229856" cy="48440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594643" y="808739"/>
            <a:ext cx="15066715" cy="16784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74924" y="972877"/>
            <a:ext cx="14706155" cy="1317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2959" y="3001190"/>
            <a:ext cx="6782767" cy="714673"/>
          </a:xfrm>
        </p:spPr>
        <p:txBody>
          <a:bodyPr anchor="b">
            <a:noAutofit/>
          </a:bodyPr>
          <a:lstStyle>
            <a:lvl1pPr marL="0" indent="0">
              <a:buNone/>
              <a:defRPr sz="2933" b="0">
                <a:solidFill>
                  <a:schemeClr val="accent2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4925" y="3901403"/>
            <a:ext cx="7190800" cy="391333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98314" y="3001190"/>
            <a:ext cx="6782764" cy="737831"/>
          </a:xfrm>
        </p:spPr>
        <p:txBody>
          <a:bodyPr anchor="b">
            <a:noAutofit/>
          </a:bodyPr>
          <a:lstStyle>
            <a:lvl1pPr marL="0" indent="0">
              <a:buNone/>
              <a:defRPr sz="2933" b="0">
                <a:solidFill>
                  <a:schemeClr val="accent2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90279" y="3901403"/>
            <a:ext cx="7190800" cy="391333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8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87577" y="808739"/>
            <a:ext cx="15066715" cy="16784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67859" y="972877"/>
            <a:ext cx="14706155" cy="1317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4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597089" y="6855964"/>
            <a:ext cx="15064267" cy="169960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3" y="7016395"/>
            <a:ext cx="6545927" cy="919352"/>
          </a:xfrm>
        </p:spPr>
        <p:txBody>
          <a:bodyPr anchor="ctr"/>
          <a:lstStyle>
            <a:lvl1pPr algn="l">
              <a:defRPr sz="2667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088" y="801600"/>
            <a:ext cx="15057120" cy="5606400"/>
          </a:xfrm>
        </p:spPr>
        <p:txBody>
          <a:bodyPr anchor="ctr">
            <a:normAutofit/>
          </a:bodyPr>
          <a:lstStyle>
            <a:lvl1pPr>
              <a:defRPr sz="2667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33">
                <a:solidFill>
                  <a:schemeClr val="tx2"/>
                </a:solidFill>
              </a:defRPr>
            </a:lvl3pPr>
            <a:lvl4pPr>
              <a:defRPr sz="1867">
                <a:solidFill>
                  <a:schemeClr val="tx2"/>
                </a:solidFill>
              </a:defRPr>
            </a:lvl4pPr>
            <a:lvl5pPr>
              <a:defRPr sz="1867">
                <a:solidFill>
                  <a:schemeClr val="tx2"/>
                </a:solidFill>
              </a:defRPr>
            </a:lvl5pPr>
            <a:lvl6pPr>
              <a:defRPr sz="1867">
                <a:solidFill>
                  <a:schemeClr val="tx2"/>
                </a:solidFill>
              </a:defRPr>
            </a:lvl6pPr>
            <a:lvl7pPr>
              <a:defRPr sz="1867">
                <a:solidFill>
                  <a:schemeClr val="tx2"/>
                </a:solidFill>
              </a:defRPr>
            </a:lvl7pPr>
            <a:lvl8pPr>
              <a:defRPr sz="1867">
                <a:solidFill>
                  <a:schemeClr val="tx2"/>
                </a:solidFill>
              </a:defRPr>
            </a:lvl8pPr>
            <a:lvl9pPr>
              <a:defRPr sz="1867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432" y="7016396"/>
            <a:ext cx="7826649" cy="919353"/>
          </a:xfrm>
        </p:spPr>
        <p:txBody>
          <a:bodyPr anchor="ctr">
            <a:normAutofit/>
          </a:bodyPr>
          <a:lstStyle>
            <a:lvl1pPr marL="0" indent="0" algn="r">
              <a:buNone/>
              <a:defRPr sz="1467">
                <a:solidFill>
                  <a:schemeClr val="bg1"/>
                </a:solidFill>
              </a:defRPr>
            </a:lvl1pPr>
            <a:lvl2pPr marL="609585" indent="0">
              <a:buNone/>
              <a:defRPr sz="1467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9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4" y="6257852"/>
            <a:ext cx="14706155" cy="755651"/>
          </a:xfrm>
        </p:spPr>
        <p:txBody>
          <a:bodyPr anchor="b">
            <a:normAutofit/>
          </a:bodyPr>
          <a:lstStyle>
            <a:lvl1pPr algn="l">
              <a:defRPr sz="32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090" y="799633"/>
            <a:ext cx="15054479" cy="4743003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4923" y="7013503"/>
            <a:ext cx="14706156" cy="7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9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87048" y="819209"/>
            <a:ext cx="15079117" cy="15857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4923" y="936208"/>
            <a:ext cx="14706155" cy="1351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1785602" y="799634"/>
            <a:ext cx="3875756" cy="77559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1" y="900969"/>
            <a:ext cx="2672219" cy="6910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3231" y="900969"/>
            <a:ext cx="10528372" cy="691076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91565" y="7941517"/>
            <a:ext cx="1770855" cy="486833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33231" y="7935749"/>
            <a:ext cx="10528372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928821" y="7941517"/>
            <a:ext cx="1552260" cy="486833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0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23" y="940165"/>
            <a:ext cx="14706155" cy="1586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923" y="3114671"/>
            <a:ext cx="14706155" cy="4697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1269" y="7941517"/>
            <a:ext cx="379306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4923" y="7935749"/>
            <a:ext cx="922294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77733" y="7941517"/>
            <a:ext cx="140334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5379" y="609601"/>
            <a:ext cx="4937760" cy="126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0" name="Rectangle 9"/>
          <p:cNvSpPr/>
          <p:nvPr/>
        </p:nvSpPr>
        <p:spPr>
          <a:xfrm>
            <a:off x="10722863" y="604858"/>
            <a:ext cx="4937760" cy="1314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1" name="Rectangle 10"/>
          <p:cNvSpPr/>
          <p:nvPr/>
        </p:nvSpPr>
        <p:spPr>
          <a:xfrm>
            <a:off x="5655773" y="609600"/>
            <a:ext cx="4937760" cy="1219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45994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09585" rtl="0" eaLnBrk="1" latinLnBrk="0" hangingPunct="1">
        <a:spcBef>
          <a:spcPct val="0"/>
        </a:spcBef>
        <a:buNone/>
        <a:defRPr sz="3733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07990" indent="-407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839979" indent="-407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133" kern="1200">
          <a:solidFill>
            <a:schemeClr val="tx2"/>
          </a:solidFill>
          <a:latin typeface="+mn-lt"/>
          <a:ea typeface="+mn-ea"/>
          <a:cs typeface="+mn-cs"/>
        </a:defRPr>
      </a:lvl2pPr>
      <a:lvl3pPr marL="1199970" indent="-359991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67" kern="1200">
          <a:solidFill>
            <a:schemeClr val="tx2"/>
          </a:solidFill>
          <a:latin typeface="+mn-lt"/>
          <a:ea typeface="+mn-ea"/>
          <a:cs typeface="+mn-cs"/>
        </a:defRPr>
      </a:lvl3pPr>
      <a:lvl4pPr marL="1655959" indent="-3119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35947" indent="-3119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33270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933260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333250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3733240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D59101-0AC2-615C-BD93-0D9BD6BB1F4E}"/>
              </a:ext>
            </a:extLst>
          </p:cNvPr>
          <p:cNvSpPr/>
          <p:nvPr/>
        </p:nvSpPr>
        <p:spPr>
          <a:xfrm>
            <a:off x="431800" y="1066800"/>
            <a:ext cx="5715000" cy="685800"/>
          </a:xfrm>
          <a:prstGeom prst="roundRect">
            <a:avLst>
              <a:gd name="adj" fmla="val 15334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t-EE" sz="4000" b="1" dirty="0">
                <a:solidFill>
                  <a:srgbClr val="0F172A"/>
                </a:solidFill>
                <a:latin typeface="Amasis MT Pro Black" panose="020F0502020204030204" pitchFamily="18" charset="0"/>
              </a:rPr>
              <a:t>SQL </a:t>
            </a:r>
            <a:r>
              <a:rPr lang="et-EE" sz="4000" b="1" dirty="0" err="1">
                <a:solidFill>
                  <a:srgbClr val="0F172A"/>
                </a:solidFill>
                <a:latin typeface="Amasis MT Pro Black" panose="020F0502020204030204" pitchFamily="18" charset="0"/>
              </a:rPr>
              <a:t>Agregatsioon</a:t>
            </a:r>
            <a:r>
              <a:rPr lang="et-EE" sz="4000" b="1" dirty="0">
                <a:solidFill>
                  <a:srgbClr val="0F172A"/>
                </a:solidFill>
                <a:latin typeface="Amasis MT Pro Black" panose="020F0502020204030204" pitchFamily="18" charset="0"/>
              </a:rPr>
              <a:t>: </a:t>
            </a:r>
          </a:p>
          <a:p>
            <a:pPr algn="ctr"/>
            <a:endParaRPr lang="et-E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56" y="4577891"/>
            <a:ext cx="7048500" cy="6096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104" y="5289091"/>
            <a:ext cx="620256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05" y="6000291"/>
            <a:ext cx="535682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104" y="6711491"/>
            <a:ext cx="451088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105" y="7422691"/>
            <a:ext cx="366514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3745" y="1638373"/>
            <a:ext cx="7454902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180"/>
              </a:lnSpc>
            </a:pPr>
            <a:r>
              <a:rPr sz="3800" b="1" dirty="0" err="1">
                <a:solidFill>
                  <a:schemeClr val="accent3">
                    <a:lumMod val="50000"/>
                  </a:schemeClr>
                </a:solidFill>
                <a:latin typeface="Space Grotesk"/>
              </a:rPr>
              <a:t>Turunduskanalite</a:t>
            </a:r>
            <a:r>
              <a:rPr sz="3800" b="1" dirty="0">
                <a:solidFill>
                  <a:schemeClr val="accent3">
                    <a:lumMod val="50000"/>
                  </a:schemeClr>
                </a:solidFill>
                <a:latin typeface="Space Grotesk"/>
              </a:rPr>
              <a:t> </a:t>
            </a:r>
            <a:r>
              <a:rPr sz="3800" b="1" dirty="0" err="1">
                <a:solidFill>
                  <a:schemeClr val="accent3">
                    <a:lumMod val="50000"/>
                  </a:schemeClr>
                </a:solidFill>
                <a:latin typeface="Space Grotesk"/>
              </a:rPr>
              <a:t>panus</a:t>
            </a:r>
            <a:r>
              <a:rPr sz="3800" b="1" dirty="0">
                <a:solidFill>
                  <a:schemeClr val="accent3">
                    <a:lumMod val="50000"/>
                  </a:schemeClr>
                </a:solidFill>
                <a:latin typeface="Space Grotesk"/>
              </a:rPr>
              <a:t> ja </a:t>
            </a:r>
            <a:r>
              <a:rPr sz="3800" b="1" dirty="0" err="1">
                <a:solidFill>
                  <a:schemeClr val="accent3">
                    <a:lumMod val="50000"/>
                  </a:schemeClr>
                </a:solidFill>
                <a:latin typeface="Space Grotesk"/>
              </a:rPr>
              <a:t>piirangud</a:t>
            </a:r>
            <a:endParaRPr sz="3800" b="1" dirty="0">
              <a:solidFill>
                <a:schemeClr val="accent3">
                  <a:lumMod val="50000"/>
                </a:schemeClr>
              </a:solidFill>
              <a:latin typeface="Space Grotesk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17600" y="698501"/>
            <a:ext cx="1549400" cy="317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22350" y="8655049"/>
            <a:ext cx="146049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144750" y="8636000"/>
            <a:ext cx="6032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3B82F6"/>
                </a:solidFill>
                <a:latin typeface="Plus Jakarta Sans SemiBold"/>
              </a:rPr>
              <a:t>Nädal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970" y="2314077"/>
            <a:ext cx="12932429" cy="55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49"/>
              </a:lnSpc>
            </a:pP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Klientide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ja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veebilogide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sidumisel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ilmnes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, et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otseühendus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kordistab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müügiridu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(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kliendil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on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mitu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külastust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).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Tulemuste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korrastamiseks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rakendati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kliendipõhist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b="1"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viimase</a:t>
            </a:r>
            <a:r>
              <a:rPr b="1"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b="1"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kanali</a:t>
            </a:r>
            <a:r>
              <a:rPr b="1"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</a:t>
            </a:r>
            <a:r>
              <a:rPr b="1" dirty="0" err="1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omistamist</a:t>
            </a:r>
            <a:r>
              <a:rPr b="1"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 (last-click attribution)</a:t>
            </a:r>
            <a:r>
              <a:rPr dirty="0">
                <a:solidFill>
                  <a:schemeClr val="accent3">
                    <a:lumMod val="50000"/>
                  </a:schemeClr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105" y="4247691"/>
            <a:ext cx="47371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chemeClr val="accent3">
                    <a:lumMod val="50000"/>
                  </a:schemeClr>
                </a:solidFill>
                <a:latin typeface="Plus Jakarta Sans ExtraBold"/>
              </a:rPr>
              <a:t>KLIENTIDE TEEKONNA FILTREERITUD FUNNEL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2907" y="4768392"/>
            <a:ext cx="12576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ospace"/>
              </a:rPr>
              <a:t>Mitmekordne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66" y="5479591"/>
            <a:ext cx="91459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ospace"/>
              </a:rPr>
              <a:t>Filtered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1227" y="6190791"/>
            <a:ext cx="12576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ospace"/>
              </a:rPr>
              <a:t>624 klienti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8088" y="6901991"/>
            <a:ext cx="17148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ospace"/>
              </a:rPr>
              <a:t>1 994 tellimust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5247" y="7613191"/>
            <a:ext cx="13719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ospace"/>
              </a:rPr>
              <a:t>582 912,57 €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CCE75B-4E67-D250-1E6B-83DED213C7EA}"/>
              </a:ext>
            </a:extLst>
          </p:cNvPr>
          <p:cNvSpPr txBox="1"/>
          <p:nvPr/>
        </p:nvSpPr>
        <p:spPr>
          <a:xfrm>
            <a:off x="1016000" y="762001"/>
            <a:ext cx="14935200" cy="81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5720"/>
              </a:lnSpc>
            </a:pPr>
            <a:r>
              <a:rPr sz="8000" b="1" dirty="0">
                <a:solidFill>
                  <a:srgbClr val="121824"/>
                </a:solidFill>
                <a:latin typeface="Abadi" panose="020B0604020104020204" pitchFamily="34" charset="0"/>
              </a:rPr>
              <a:t>ROLL D – Helen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378" y="607229"/>
            <a:ext cx="4937760" cy="126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9121" y="609600"/>
            <a:ext cx="4937760" cy="1219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862" y="604857"/>
            <a:ext cx="4937760" cy="1314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850" y="799632"/>
            <a:ext cx="12437242" cy="69337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377" y="7831566"/>
            <a:ext cx="15062311" cy="6891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378" y="607229"/>
            <a:ext cx="4937760" cy="126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9121" y="609600"/>
            <a:ext cx="4937760" cy="1219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862" y="604857"/>
            <a:ext cx="4937760" cy="1314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966F8-AC65-A4E7-ABAA-E25AC6BCC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68" y="799632"/>
            <a:ext cx="13937205" cy="69337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377" y="7831566"/>
            <a:ext cx="15062311" cy="6891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8048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E22EDAF-5B6B-4EDA-874A-D2323A563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7093E9-0FF5-4C8A-87CA-1A77A8A8A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378" y="607229"/>
            <a:ext cx="4937760" cy="126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31B9EF-E1F9-40FE-9CC0-C4C5F7025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9121" y="609600"/>
            <a:ext cx="4937760" cy="1219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457049-EBE6-4D4A-9603-74419DB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862" y="604857"/>
            <a:ext cx="4937760" cy="1314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4EC586-DBC6-420F-A910-59AC50AB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377" y="7831566"/>
            <a:ext cx="15062311" cy="6891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9AD5A5-5C57-8D3D-6440-E912C297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029987"/>
            <a:ext cx="13893800" cy="579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8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1" y="1813520"/>
            <a:ext cx="7048500" cy="6631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1" y="1813520"/>
            <a:ext cx="7048500" cy="6631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9000" y="698500"/>
            <a:ext cx="7483643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180"/>
              </a:lnSpc>
            </a:pPr>
            <a:r>
              <a:rPr sz="3800" b="1">
                <a:solidFill>
                  <a:srgbClr val="0F172A"/>
                </a:solidFill>
                <a:latin typeface="Space Grotesk"/>
              </a:rPr>
              <a:t>Kriitilised metoodilised piirangud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8501" y="698501"/>
            <a:ext cx="1968500" cy="31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2350" y="8655049"/>
            <a:ext cx="146049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750" y="8636000"/>
            <a:ext cx="6032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3B82F6"/>
                </a:solidFill>
                <a:latin typeface="Plus Jakarta Sans SemiBold"/>
              </a:rPr>
              <a:t>Nädal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2207220"/>
            <a:ext cx="650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pace Grotesk"/>
              </a:rPr>
              <a:t>Andmelüngad ja piirangud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200" y="2753321"/>
            <a:ext cx="6197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475569"/>
                </a:solidFill>
                <a:latin typeface="Plus Jakarta Sans"/>
              </a:rPr>
              <a:t>Tulemuste tõlgendamisel ja juhatuse ees kaitsmisel tuleb kindlasti teadvustada järgmisi andmebaasist tulenevaid piiranguid: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5700" y="2207220"/>
            <a:ext cx="650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pace Grotesk"/>
              </a:rPr>
              <a:t>Analüütilised lihtsustused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3426421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Turunduse ROI puudub: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Kuna kampaaniate kuluandmed andmebaasis puuduvad, pole tegelikku tasuvust võimalik arvutada.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4493220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Külastuste kordistumine: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Otseühendus `web_logs` ja müügi vahel ilma vahefiltrita moonutab tulemusi.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1800" y="5255220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2025. aasta anomaalia: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Vajab andmebaasi tehnilist auditit enne ärilise järelduse tegemist.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753321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Viimase kanali omistamine (last-click):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See on lihtsustatud loogika, mis eirab kliendi varasemaid puutepunkte teiste kanalitega.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820121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Segmentide piirmäärad: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VIP/Regular piirid (150 € ja 500 €) on analüütilised kokkulepped. Juhtkond peab need ametlikult kinnitama.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4886921"/>
            <a:ext cx="5842000" cy="900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Varude sidumine: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Tootekategooriate koondmüük on väärtuslik, kuid otseseks laoseisu planeerimiseks tuleb andmed siduda reaalse `inventory` seisuga.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3451820"/>
            <a:ext cx="152400" cy="203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4518620"/>
            <a:ext cx="152400" cy="203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5280620"/>
            <a:ext cx="152400" cy="203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5700" y="2778720"/>
            <a:ext cx="50800" cy="203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5700" y="3845520"/>
            <a:ext cx="50800" cy="203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5700" y="4912320"/>
            <a:ext cx="508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1" y="1813520"/>
            <a:ext cx="7048500" cy="6631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1" y="1813520"/>
            <a:ext cx="7048500" cy="6631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9000" y="698500"/>
            <a:ext cx="9723923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180"/>
              </a:lnSpc>
            </a:pPr>
            <a:r>
              <a:rPr sz="3800" b="1">
                <a:solidFill>
                  <a:srgbClr val="0F172A"/>
                </a:solidFill>
                <a:latin typeface="Space Grotesk"/>
              </a:rPr>
              <a:t>Strateegilised soovitused Kristile ja Annale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6101" y="698501"/>
            <a:ext cx="2120900" cy="31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2350" y="8655049"/>
            <a:ext cx="146049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750" y="8636000"/>
            <a:ext cx="6032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3B82F6"/>
                </a:solidFill>
                <a:latin typeface="Plus Jakarta Sans SemiBold"/>
              </a:rPr>
              <a:t>Nädal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2207220"/>
            <a:ext cx="650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65F46"/>
                </a:solidFill>
                <a:latin typeface="Space Grotesk"/>
              </a:rPr>
              <a:t>Kliendid &amp; Müügikanalid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5700" y="2207220"/>
            <a:ext cx="650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Space Grotesk"/>
              </a:rPr>
              <a:t>Varud, Turundus ja Andmed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1800" y="2753321"/>
            <a:ext cx="5842000" cy="900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VIP-klientide personaalne hoidmine: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Kuna segment on väike (18 klienti), väärivad nad masskampaaniate asemel unikaalseid personaalseid pakkumisi.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3820121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Regular-klientide ristmüük: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Regular segment on parim kasvuallikas. Rakendada lisatoodete ristmüüki ja ostusageduse soodustusi.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4886921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Uute klientide automatiseerimine: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Suurt uute klientide hulka tuleks püüda automaatsete järelkirjadega, vältimaks ühekordseid oste.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1800" y="5953720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Kasvukanalite eelisarendamine: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Keskenduda Online ja Tartu suundadele, mis tõestasid tugevat arengut.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2753321"/>
            <a:ext cx="5842000" cy="900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Sesoonsuse ja varude sünkroniseerimine: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Enne suviseid müügitippe (+20%) ja aastalõpu kampaaniaid tuleb tõsta meeste_riiete ja jalanõude laovarusid.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3820121"/>
            <a:ext cx="5842000" cy="900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Standardiseerida turunduskanalid: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Andmebaasis esinevad samad kanalid eri kirjapiltidega. Nende ühtlustamine vähendaks raporteerimise käsitööd.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1300" y="4886921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Andmete auditeerimine: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Algatada tehniline kontroll 2025. aasta müüginumbrite täielikkuse osas enne andmete välist avalikustamist.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2778720"/>
            <a:ext cx="177800" cy="203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3845520"/>
            <a:ext cx="177800" cy="203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4912320"/>
            <a:ext cx="177800" cy="203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5979120"/>
            <a:ext cx="177800" cy="203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2778720"/>
            <a:ext cx="177800" cy="203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3845520"/>
            <a:ext cx="177800" cy="203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5700" y="4912320"/>
            <a:ext cx="508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1" y="1813520"/>
            <a:ext cx="7048500" cy="6631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1" y="1813520"/>
            <a:ext cx="7048500" cy="6631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9001" y="698500"/>
            <a:ext cx="7323623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180"/>
              </a:lnSpc>
            </a:pPr>
            <a:r>
              <a:rPr sz="3800" b="1">
                <a:solidFill>
                  <a:srgbClr val="0F172A"/>
                </a:solidFill>
                <a:latin typeface="Space Grotesk"/>
              </a:rPr>
              <a:t>Kokkuvõte ja järgmised sammud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8101" y="698501"/>
            <a:ext cx="1358900" cy="31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2350" y="8655049"/>
            <a:ext cx="146049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750" y="8636000"/>
            <a:ext cx="6032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3B82F6"/>
                </a:solidFill>
                <a:latin typeface="Plus Jakarta Sans SemiBold"/>
              </a:rPr>
              <a:t>Nädal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2207220"/>
            <a:ext cx="650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pace Grotesk"/>
              </a:rPr>
              <a:t>SQL Agregatsiooni väärtus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200" y="2854921"/>
            <a:ext cx="6197600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560"/>
              </a:lnSpc>
            </a:pPr>
            <a:r>
              <a:rPr sz="1600">
                <a:solidFill>
                  <a:srgbClr val="475569"/>
                </a:solidFill>
                <a:latin typeface="Plus Jakarta Sans"/>
              </a:rPr>
              <a:t>Operations Intelligence tiimi töö tõestab, et ilma SQL-põhise agregatsioonita jääb andmebaasis peituv potentsiaal kättesaamatuks.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6200" y="4084041"/>
            <a:ext cx="6197600" cy="971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560"/>
              </a:lnSpc>
            </a:pPr>
            <a:r>
              <a:rPr sz="1600">
                <a:solidFill>
                  <a:srgbClr val="475569"/>
                </a:solidFill>
                <a:latin typeface="Plus Jakarta Sans"/>
              </a:rPr>
              <a:t>Koondnäitajad pakuvad Kristi Tammele ja tegevjuhtkonnale kindla ning tõenduspõhise aluse UrbanStyle'i tuleviku juhtimiseks, asukohtade planeerimiseks ja kliendisuhete parandamiseks.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700" y="2207220"/>
            <a:ext cx="650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45309"/>
                </a:solidFill>
                <a:latin typeface="Space Grotesk"/>
              </a:rPr>
              <a:t>Tegevusplaan Annale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1300" y="2854920"/>
            <a:ext cx="58420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Samm 1: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Parandada turunduskanalite andmekvaliteet ja nimetused andmebaasis.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300" y="3616920"/>
            <a:ext cx="5842000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Samm 2: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Viia läbi 2025. a andmete tehniline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300" y="4074120"/>
            <a:ext cx="5842000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Samm 3: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Kinnitada VIP ja Regular segmentide piirmäärad juhtkonnas.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300" y="4836120"/>
            <a:ext cx="5842000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600" b="1">
                <a:solidFill>
                  <a:srgbClr val="334155"/>
                </a:solidFill>
                <a:latin typeface="Plus Jakarta Sans"/>
              </a:rPr>
              <a:t>Samm 4:</a:t>
            </a:r>
            <a:r>
              <a:rPr sz="1600">
                <a:solidFill>
                  <a:srgbClr val="334155"/>
                </a:solidFill>
                <a:latin typeface="Plus Jakarta Sans"/>
              </a:rPr>
              <a:t> Siduda müügistatistika tegeliku laoinventuuriga.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2880320"/>
            <a:ext cx="177800" cy="203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3642320"/>
            <a:ext cx="177800" cy="203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4099520"/>
            <a:ext cx="177800" cy="203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4861520"/>
            <a:ext cx="177800" cy="20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187</TotalTime>
  <Words>416</Words>
  <Application>Microsoft Office PowerPoint</Application>
  <PresentationFormat>Custom</PresentationFormat>
  <Paragraphs>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Abadi</vt:lpstr>
      <vt:lpstr>Amasis MT Pro Black</vt:lpstr>
      <vt:lpstr>Aptos</vt:lpstr>
      <vt:lpstr>Gill Sans MT</vt:lpstr>
      <vt:lpstr>monospace</vt:lpstr>
      <vt:lpstr>Plus Jakarta Sans</vt:lpstr>
      <vt:lpstr>Plus Jakarta Sans ExtraBold</vt:lpstr>
      <vt:lpstr>Plus Jakarta Sans SemiBold</vt:lpstr>
      <vt:lpstr>Space Grotesk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Helen Tanner</cp:lastModifiedBy>
  <cp:revision>6</cp:revision>
  <dcterms:created xsi:type="dcterms:W3CDTF">2006-08-16T00:00:00Z</dcterms:created>
  <dcterms:modified xsi:type="dcterms:W3CDTF">2026-07-17T15:17:28Z</dcterms:modified>
</cp:coreProperties>
</file>